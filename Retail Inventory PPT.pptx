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3" name="Text 1"/>
          <p:cNvSpPr txBox="1"/>
          <p:nvPr/>
        </p:nvSpPr>
        <p:spPr>
          <a:xfrm>
            <a:off x="457200" y="640080"/>
            <a:ext cx="8229600" cy="274320"/>
          </a:xfrm>
          <a:prstGeom prst="rect">
            <a:avLst/>
          </a:prstGeom>
          <a:noFill/>
          <a:ln/>
        </p:spPr>
        <p:txBody>
          <a:bodyPr wrap="square" lIns="0" tIns="0" rIns="0" bIns="0" rtlCol="0" anchor="ctr"/>
          <a:lstStyle/>
          <a:p>
            <a:pPr indent="0" marL="0">
              <a:buNone/>
            </a:pPr>
            <a:r>
              <a:rPr lang="en-US" sz="1200" b="1" dirty="0">
                <a:solidFill>
                  <a:srgbClr val="93C5FD"/>
                </a:solidFill>
                <a:latin typeface="Calibri" pitchFamily="34" charset="0"/>
                <a:ea typeface="Calibri" pitchFamily="34" charset="-122"/>
                <a:cs typeface="Calibri" pitchFamily="34" charset="-120"/>
              </a:rPr>
              <a:t>B.TECH PROJECT  |  SOFTWARE REQUIREMENTS SPECIFICATION</a:t>
            </a:r>
            <a:endParaRPr lang="en-US" sz="1200" dirty="0"/>
          </a:p>
        </p:txBody>
      </p:sp>
      <p:sp>
        <p:nvSpPr>
          <p:cNvPr id="4" name="Text 2"/>
          <p:cNvSpPr txBox="1"/>
          <p:nvPr/>
        </p:nvSpPr>
        <p:spPr>
          <a:xfrm>
            <a:off x="457200" y="1143000"/>
            <a:ext cx="8229600" cy="17373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Retail Inventory</a:t>
            </a:r>
            <a:br>
              <a:rPr lang="en-US" sz="4400"/>
            </a:br>
            <a:r>
              <a:rPr lang="en-US" sz="4400" b="1" dirty="0">
                <a:solidFill>
                  <a:srgbClr val="FFFFFF"/>
                </a:solidFill>
                <a:latin typeface="Cambria" pitchFamily="34" charset="0"/>
              </a:rPr>
              <a:t>Management System</a:t>
            </a:r>
            <a:endParaRPr lang="en-US" sz="4400" dirty="0"/>
          </a:p>
        </p:txBody>
      </p:sp>
      <p:sp>
        <p:nvSpPr>
          <p:cNvPr id="5" name="Text 3"/>
          <p:cNvSpPr txBox="1"/>
          <p:nvPr/>
        </p:nvSpPr>
        <p:spPr>
          <a:xfrm>
            <a:off x="457200" y="3017520"/>
            <a:ext cx="8229600" cy="457200"/>
          </a:xfrm>
          <a:prstGeom prst="rect">
            <a:avLst/>
          </a:prstGeom>
          <a:noFill/>
          <a:ln/>
        </p:spPr>
        <p:txBody>
          <a:bodyPr wrap="square" lIns="0" tIns="0" rIns="0" bIns="0" rtlCol="0" anchor="t"/>
          <a:lstStyle/>
          <a:p>
            <a:pPr indent="0" marL="0">
              <a:buNone/>
            </a:pPr>
            <a:r>
              <a:rPr lang="en-US" sz="1800" dirty="0">
                <a:solidFill>
                  <a:srgbClr val="CBD5E1"/>
                </a:solidFill>
                <a:latin typeface="Calibri" pitchFamily="34" charset="0"/>
                <a:ea typeface="Calibri" pitchFamily="34" charset="-122"/>
                <a:cs typeface="Calibri" pitchFamily="34" charset="-120"/>
              </a:rPr>
              <a:t>Modules and functionality of the Retail Command Center (Shopluxe)</a:t>
            </a:r>
            <a:endParaRPr lang="en-US" sz="1800" dirty="0"/>
          </a:p>
        </p:txBody>
      </p:sp>
      <p:sp>
        <p:nvSpPr>
          <p:cNvPr id="6" name="Text 4"/>
          <p:cNvSpPr txBox="1"/>
          <p:nvPr/>
        </p:nvSpPr>
        <p:spPr>
          <a:xfrm>
            <a:off x="457200" y="3794760"/>
            <a:ext cx="8229600" cy="9601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Tanmay Garg</a:t>
            </a:r>
            <a:endParaRPr lang="en-US" sz="1400" dirty="0"/>
          </a:p>
          <a:p>
            <a:pPr indent="0" marL="0">
              <a:buNone/>
            </a:pPr>
            <a:r>
              <a:rPr lang="en-US" sz="1400" dirty="0">
                <a:solidFill>
                  <a:srgbClr val="94A3B8"/>
                </a:solidFill>
                <a:latin typeface="Calibri" pitchFamily="34" charset="0"/>
                <a:ea typeface="Calibri" pitchFamily="34" charset="-122"/>
                <a:cs typeface="Calibri" pitchFamily="34" charset="-120"/>
              </a:rPr>
              <a:t>Roll No: 2400321540200  |  CSE (Data Science)</a:t>
            </a:r>
            <a:endParaRPr lang="en-US" sz="1400" dirty="0"/>
          </a:p>
          <a:p>
            <a:pPr indent="0" marL="0">
              <a:buNone/>
            </a:pPr>
            <a:r>
              <a:rPr lang="en-US" sz="1400" dirty="0">
                <a:solidFill>
                  <a:srgbClr val="94A3B8"/>
                </a:solidFill>
                <a:latin typeface="Calibri" pitchFamily="34" charset="0"/>
                <a:ea typeface="Calibri" pitchFamily="34" charset="-122"/>
                <a:cs typeface="Calibri" pitchFamily="34" charset="-120"/>
              </a:rPr>
              <a:t>ABES Engineering College, Ghaziabad  |  Guide: Avinay Raj</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2</a:t>
            </a:r>
            <a:endParaRPr lang="en-US" sz="850" dirty="0"/>
          </a:p>
        </p:txBody>
      </p:sp>
      <p:sp>
        <p:nvSpPr>
          <p:cNvPr id="4" name="Text 2"/>
          <p:cNvSpPr txBox="1"/>
          <p:nvPr/>
        </p:nvSpPr>
        <p:spPr>
          <a:xfrm>
            <a:off x="457200" y="365760"/>
            <a:ext cx="5486400" cy="54864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Project Overview</a:t>
            </a:r>
            <a:endParaRPr lang="en-US" sz="3200" dirty="0"/>
          </a:p>
        </p:txBody>
      </p:sp>
      <p:sp>
        <p:nvSpPr>
          <p:cNvPr id="5" name="Text 3"/>
          <p:cNvSpPr txBox="1"/>
          <p:nvPr/>
        </p:nvSpPr>
        <p:spPr>
          <a:xfrm>
            <a:off x="457200" y="1005840"/>
            <a:ext cx="4297680" cy="155448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Retailers with several warehouses need to know what stock they hold, where it is, what is already promised to customers and what must be reordered. Spreadsheets and disconnected tools go stale quickly. The Retail Command Center solves this with one web platform backed by a single relational database.</a:t>
            </a:r>
            <a:endParaRPr lang="en-US" sz="1300" dirty="0"/>
          </a:p>
        </p:txBody>
      </p:sp>
      <p:sp>
        <p:nvSpPr>
          <p:cNvPr id="6" name="Text 4"/>
          <p:cNvSpPr txBox="1"/>
          <p:nvPr/>
        </p:nvSpPr>
        <p:spPr>
          <a:xfrm>
            <a:off x="457200" y="2651760"/>
            <a:ext cx="4297680" cy="640080"/>
          </a:xfrm>
          <a:prstGeom prst="rect">
            <a:avLst/>
          </a:prstGeom>
          <a:noFill/>
          <a:ln/>
        </p:spPr>
        <p:txBody>
          <a:bodyPr wrap="square" lIns="0" tIns="0" rIns="0" bIns="0" rtlCol="0" anchor="t"/>
          <a:lstStyle/>
          <a:p>
            <a:pPr indent="0" marL="0">
              <a:buNone/>
            </a:pPr>
            <a:r>
              <a:rPr lang="en-US" sz="1100" b="1" dirty="0">
                <a:solidFill>
                  <a:srgbClr val="64748B"/>
                </a:solidFill>
                <a:latin typeface="Calibri" pitchFamily="34" charset="0"/>
                <a:ea typeface="Calibri" pitchFamily="34" charset="-122"/>
                <a:cs typeface="Calibri" pitchFamily="34" charset="-120"/>
              </a:rPr>
              <a:t>Out of scope: </a:t>
            </a:r>
            <a:pPr indent="0" marL="0">
              <a:buNone/>
            </a:pPr>
            <a:r>
              <a:rPr lang="en-US" sz="1100" dirty="0">
                <a:solidFill>
                  <a:srgbClr val="64748B"/>
                </a:solidFill>
                <a:latin typeface="Calibri" pitchFamily="34" charset="0"/>
                <a:ea typeface="Calibri" pitchFamily="34" charset="-122"/>
                <a:cs typeface="Calibri" pitchFamily="34" charset="-120"/>
              </a:rPr>
              <a:t>mobile apps, AI demand forecasting, ERP / accounting integration, live payment or carrier integration.</a:t>
            </a:r>
            <a:endParaRPr lang="en-US" sz="1100" dirty="0"/>
          </a:p>
        </p:txBody>
      </p:sp>
      <p:sp>
        <p:nvSpPr>
          <p:cNvPr id="7" name="Shape 5"/>
          <p:cNvSpPr/>
          <p:nvPr/>
        </p:nvSpPr>
        <p:spPr>
          <a:xfrm>
            <a:off x="5120640" y="1005840"/>
            <a:ext cx="1691640" cy="1188720"/>
          </a:xfrm>
          <a:prstGeom prst="roundRect">
            <a:avLst>
              <a:gd name="adj" fmla="val 615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8" name="Text 6"/>
          <p:cNvSpPr txBox="1"/>
          <p:nvPr/>
        </p:nvSpPr>
        <p:spPr>
          <a:xfrm>
            <a:off x="5120640" y="1115568"/>
            <a:ext cx="1691640" cy="594360"/>
          </a:xfrm>
          <a:prstGeom prst="rect">
            <a:avLst/>
          </a:prstGeom>
          <a:noFill/>
          <a:ln/>
        </p:spPr>
        <p:txBody>
          <a:bodyPr wrap="square" lIns="0" tIns="0" rIns="0" bIns="0" rtlCol="0" anchor="ctr"/>
          <a:lstStyle/>
          <a:p>
            <a:pPr algn="ctr" indent="0" marL="0">
              <a:buNone/>
            </a:pPr>
            <a:r>
              <a:rPr lang="en-US" sz="3800" b="1" dirty="0">
                <a:solidFill>
                  <a:srgbClr val="2563EB"/>
                </a:solidFill>
                <a:latin typeface="Cambria" pitchFamily="34" charset="0"/>
                <a:ea typeface="Cambria" pitchFamily="34" charset="-122"/>
                <a:cs typeface="Cambria" pitchFamily="34" charset="-120"/>
              </a:rPr>
              <a:t>11</a:t>
            </a:r>
            <a:endParaRPr lang="en-US" sz="3800" dirty="0"/>
          </a:p>
        </p:txBody>
      </p:sp>
      <p:sp>
        <p:nvSpPr>
          <p:cNvPr id="9" name="Text 7"/>
          <p:cNvSpPr txBox="1"/>
          <p:nvPr/>
        </p:nvSpPr>
        <p:spPr>
          <a:xfrm>
            <a:off x="5120640" y="1737360"/>
            <a:ext cx="1691640" cy="32004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Software modules</a:t>
            </a:r>
            <a:endParaRPr lang="en-US" sz="1100" dirty="0"/>
          </a:p>
        </p:txBody>
      </p:sp>
      <p:sp>
        <p:nvSpPr>
          <p:cNvPr id="10" name="Shape 8"/>
          <p:cNvSpPr/>
          <p:nvPr/>
        </p:nvSpPr>
        <p:spPr>
          <a:xfrm>
            <a:off x="6949440" y="1005840"/>
            <a:ext cx="1691640" cy="1188720"/>
          </a:xfrm>
          <a:prstGeom prst="roundRect">
            <a:avLst>
              <a:gd name="adj" fmla="val 615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1" name="Text 9"/>
          <p:cNvSpPr txBox="1"/>
          <p:nvPr/>
        </p:nvSpPr>
        <p:spPr>
          <a:xfrm>
            <a:off x="6949440" y="1115568"/>
            <a:ext cx="1691640" cy="594360"/>
          </a:xfrm>
          <a:prstGeom prst="rect">
            <a:avLst/>
          </a:prstGeom>
          <a:noFill/>
          <a:ln/>
        </p:spPr>
        <p:txBody>
          <a:bodyPr wrap="square" lIns="0" tIns="0" rIns="0" bIns="0" rtlCol="0" anchor="ctr"/>
          <a:lstStyle/>
          <a:p>
            <a:pPr algn="ctr" indent="0" marL="0">
              <a:buNone/>
            </a:pPr>
            <a:r>
              <a:rPr lang="en-US" sz="3800" b="1" dirty="0">
                <a:solidFill>
                  <a:srgbClr val="2563EB"/>
                </a:solidFill>
                <a:latin typeface="Cambria" pitchFamily="34" charset="0"/>
                <a:ea typeface="Cambria" pitchFamily="34" charset="-122"/>
                <a:cs typeface="Cambria" pitchFamily="34" charset="-120"/>
              </a:rPr>
              <a:t>4</a:t>
            </a:r>
            <a:endParaRPr lang="en-US" sz="3800" dirty="0"/>
          </a:p>
        </p:txBody>
      </p:sp>
      <p:sp>
        <p:nvSpPr>
          <p:cNvPr id="12" name="Text 10"/>
          <p:cNvSpPr txBox="1"/>
          <p:nvPr/>
        </p:nvSpPr>
        <p:spPr>
          <a:xfrm>
            <a:off x="6949440" y="1737360"/>
            <a:ext cx="1691640" cy="32004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User roles + guest</a:t>
            </a:r>
            <a:endParaRPr lang="en-US" sz="1100" dirty="0"/>
          </a:p>
        </p:txBody>
      </p:sp>
      <p:sp>
        <p:nvSpPr>
          <p:cNvPr id="13" name="Shape 11"/>
          <p:cNvSpPr/>
          <p:nvPr/>
        </p:nvSpPr>
        <p:spPr>
          <a:xfrm>
            <a:off x="5120640" y="2331720"/>
            <a:ext cx="1691640" cy="1188720"/>
          </a:xfrm>
          <a:prstGeom prst="roundRect">
            <a:avLst>
              <a:gd name="adj" fmla="val 615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4" name="Text 12"/>
          <p:cNvSpPr txBox="1"/>
          <p:nvPr/>
        </p:nvSpPr>
        <p:spPr>
          <a:xfrm>
            <a:off x="5120640" y="2441448"/>
            <a:ext cx="1691640" cy="594360"/>
          </a:xfrm>
          <a:prstGeom prst="rect">
            <a:avLst/>
          </a:prstGeom>
          <a:noFill/>
          <a:ln/>
        </p:spPr>
        <p:txBody>
          <a:bodyPr wrap="square" lIns="0" tIns="0" rIns="0" bIns="0" rtlCol="0" anchor="ctr"/>
          <a:lstStyle/>
          <a:p>
            <a:pPr algn="ctr" indent="0" marL="0">
              <a:buNone/>
            </a:pPr>
            <a:r>
              <a:rPr lang="en-US" sz="3800" b="1" dirty="0">
                <a:solidFill>
                  <a:srgbClr val="2563EB"/>
                </a:solidFill>
                <a:latin typeface="Cambria" pitchFamily="34" charset="0"/>
                <a:ea typeface="Cambria" pitchFamily="34" charset="-122"/>
                <a:cs typeface="Cambria" pitchFamily="34" charset="-120"/>
              </a:rPr>
              <a:t>15</a:t>
            </a:r>
            <a:endParaRPr lang="en-US" sz="3800" dirty="0"/>
          </a:p>
        </p:txBody>
      </p:sp>
      <p:sp>
        <p:nvSpPr>
          <p:cNvPr id="15" name="Text 13"/>
          <p:cNvSpPr txBox="1"/>
          <p:nvPr/>
        </p:nvSpPr>
        <p:spPr>
          <a:xfrm>
            <a:off x="5120640" y="3063240"/>
            <a:ext cx="1691640" cy="32004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Agile sprints</a:t>
            </a:r>
            <a:endParaRPr lang="en-US" sz="1100" dirty="0"/>
          </a:p>
        </p:txBody>
      </p:sp>
      <p:sp>
        <p:nvSpPr>
          <p:cNvPr id="16" name="Shape 14"/>
          <p:cNvSpPr/>
          <p:nvPr/>
        </p:nvSpPr>
        <p:spPr>
          <a:xfrm>
            <a:off x="6949440" y="2331720"/>
            <a:ext cx="1691640" cy="1188720"/>
          </a:xfrm>
          <a:prstGeom prst="roundRect">
            <a:avLst>
              <a:gd name="adj" fmla="val 615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7" name="Text 15"/>
          <p:cNvSpPr txBox="1"/>
          <p:nvPr/>
        </p:nvSpPr>
        <p:spPr>
          <a:xfrm>
            <a:off x="6949440" y="2441448"/>
            <a:ext cx="1691640" cy="594360"/>
          </a:xfrm>
          <a:prstGeom prst="rect">
            <a:avLst/>
          </a:prstGeom>
          <a:noFill/>
          <a:ln/>
        </p:spPr>
        <p:txBody>
          <a:bodyPr wrap="square" lIns="0" tIns="0" rIns="0" bIns="0" rtlCol="0" anchor="ctr"/>
          <a:lstStyle/>
          <a:p>
            <a:pPr algn="ctr" indent="0" marL="0">
              <a:buNone/>
            </a:pPr>
            <a:r>
              <a:rPr lang="en-US" sz="3800" b="1" dirty="0">
                <a:solidFill>
                  <a:srgbClr val="2563EB"/>
                </a:solidFill>
                <a:latin typeface="Cambria" pitchFamily="34" charset="0"/>
                <a:ea typeface="Cambria" pitchFamily="34" charset="-122"/>
                <a:cs typeface="Cambria" pitchFamily="34" charset="-120"/>
              </a:rPr>
              <a:t>48</a:t>
            </a:r>
            <a:endParaRPr lang="en-US" sz="3800" dirty="0"/>
          </a:p>
        </p:txBody>
      </p:sp>
      <p:sp>
        <p:nvSpPr>
          <p:cNvPr id="18" name="Text 16"/>
          <p:cNvSpPr txBox="1"/>
          <p:nvPr/>
        </p:nvSpPr>
        <p:spPr>
          <a:xfrm>
            <a:off x="6949440" y="3063240"/>
            <a:ext cx="1691640" cy="320040"/>
          </a:xfrm>
          <a:prstGeom prst="rect">
            <a:avLst/>
          </a:prstGeom>
          <a:noFill/>
          <a:ln/>
        </p:spPr>
        <p:txBody>
          <a:bodyPr wrap="square" lIns="0" tIns="0" rIns="0" bIns="0"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Test cases (TC01-TC48)</a:t>
            </a:r>
            <a:endParaRPr lang="en-US" sz="1100" dirty="0"/>
          </a:p>
        </p:txBody>
      </p:sp>
      <p:sp>
        <p:nvSpPr>
          <p:cNvPr id="19" name="Shape 17"/>
          <p:cNvSpPr/>
          <p:nvPr/>
        </p:nvSpPr>
        <p:spPr>
          <a:xfrm>
            <a:off x="457200" y="3611880"/>
            <a:ext cx="2697480" cy="914400"/>
          </a:xfrm>
          <a:prstGeom prst="roundRect">
            <a:avLst>
              <a:gd name="adj" fmla="val 8000"/>
            </a:avLst>
          </a:prstGeom>
          <a:solidFill>
            <a:srgbClr val="0F172A"/>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0" name="Text 18"/>
          <p:cNvSpPr txBox="1"/>
          <p:nvPr/>
        </p:nvSpPr>
        <p:spPr>
          <a:xfrm>
            <a:off x="594360" y="3611880"/>
            <a:ext cx="2423160" cy="914400"/>
          </a:xfrm>
          <a:prstGeom prst="rect">
            <a:avLst/>
          </a:prstGeom>
          <a:noFill/>
          <a:ln/>
        </p:spPr>
        <p:txBody>
          <a:bodyPr wrap="square" lIns="0" tIns="0" rIns="0" bIns="0" rtlCol="0" anchor="ctr"/>
          <a:lstStyle/>
          <a:p>
            <a:pPr indent="0" marL="0">
              <a:buNone/>
            </a:pPr>
            <a:r>
              <a:rPr lang="en-US" sz="950" b="1" dirty="0">
                <a:solidFill>
                  <a:srgbClr val="93C5FD"/>
                </a:solidFill>
                <a:latin typeface="Calibri" pitchFamily="34" charset="0"/>
                <a:ea typeface="Calibri" pitchFamily="34" charset="-122"/>
                <a:cs typeface="Calibri" pitchFamily="34" charset="-120"/>
              </a:rPr>
              <a:t>PRESENTATION</a:t>
            </a:r>
            <a:endParaRPr lang="en-US" sz="950" dirty="0"/>
          </a:p>
          <a:p>
            <a:pPr indent="0" marL="0">
              <a:buNone/>
            </a:pPr>
            <a:r>
              <a:rPr lang="en-US" sz="1200" dirty="0">
                <a:solidFill>
                  <a:srgbClr val="FFFFFF"/>
                </a:solidFill>
                <a:latin typeface="Calibri" pitchFamily="34" charset="0"/>
                <a:ea typeface="Calibri" pitchFamily="34" charset="-122"/>
                <a:cs typeface="Calibri" pitchFamily="34" charset="-120"/>
              </a:rPr>
              <a:t>React + TypeScript, Axios, Recharts</a:t>
            </a:r>
            <a:endParaRPr lang="en-US" sz="950" dirty="0"/>
          </a:p>
        </p:txBody>
      </p:sp>
      <p:sp>
        <p:nvSpPr>
          <p:cNvPr id="21" name="Shape 19"/>
          <p:cNvSpPr/>
          <p:nvPr/>
        </p:nvSpPr>
        <p:spPr>
          <a:xfrm>
            <a:off x="3291840" y="3611880"/>
            <a:ext cx="2697480" cy="914400"/>
          </a:xfrm>
          <a:prstGeom prst="roundRect">
            <a:avLst>
              <a:gd name="adj" fmla="val 8000"/>
            </a:avLst>
          </a:prstGeom>
          <a:solidFill>
            <a:srgbClr val="0F172A"/>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2" name="Text 20"/>
          <p:cNvSpPr txBox="1"/>
          <p:nvPr/>
        </p:nvSpPr>
        <p:spPr>
          <a:xfrm>
            <a:off x="3429000" y="3611880"/>
            <a:ext cx="2423160" cy="914400"/>
          </a:xfrm>
          <a:prstGeom prst="rect">
            <a:avLst/>
          </a:prstGeom>
          <a:noFill/>
          <a:ln/>
        </p:spPr>
        <p:txBody>
          <a:bodyPr wrap="square" lIns="0" tIns="0" rIns="0" bIns="0" rtlCol="0" anchor="ctr"/>
          <a:lstStyle/>
          <a:p>
            <a:pPr indent="0" marL="0">
              <a:buNone/>
            </a:pPr>
            <a:r>
              <a:rPr lang="en-US" sz="950" b="1" dirty="0">
                <a:solidFill>
                  <a:srgbClr val="93C5FD"/>
                </a:solidFill>
                <a:latin typeface="Calibri" pitchFamily="34" charset="0"/>
                <a:ea typeface="Calibri" pitchFamily="34" charset="-122"/>
                <a:cs typeface="Calibri" pitchFamily="34" charset="-120"/>
              </a:rPr>
              <a:t>APPLICATION</a:t>
            </a:r>
            <a:endParaRPr lang="en-US" sz="950" dirty="0"/>
          </a:p>
          <a:p>
            <a:pPr indent="0" marL="0">
              <a:buNone/>
            </a:pPr>
            <a:r>
              <a:rPr lang="en-US" sz="1200" dirty="0">
                <a:solidFill>
                  <a:srgbClr val="FFFFFF"/>
                </a:solidFill>
                <a:latin typeface="Calibri" pitchFamily="34" charset="0"/>
                <a:ea typeface="Calibri" pitchFamily="34" charset="-122"/>
                <a:cs typeface="Calibri" pitchFamily="34" charset="-120"/>
              </a:rPr>
              <a:t>Spring Boot 3.2 REST, Spring Security + JWT</a:t>
            </a:r>
            <a:endParaRPr lang="en-US" sz="950" dirty="0"/>
          </a:p>
        </p:txBody>
      </p:sp>
      <p:sp>
        <p:nvSpPr>
          <p:cNvPr id="23" name="Shape 21"/>
          <p:cNvSpPr/>
          <p:nvPr/>
        </p:nvSpPr>
        <p:spPr>
          <a:xfrm>
            <a:off x="6126480" y="3611880"/>
            <a:ext cx="2697480" cy="914400"/>
          </a:xfrm>
          <a:prstGeom prst="roundRect">
            <a:avLst>
              <a:gd name="adj" fmla="val 8000"/>
            </a:avLst>
          </a:prstGeom>
          <a:solidFill>
            <a:srgbClr val="0F172A"/>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4" name="Text 22"/>
          <p:cNvSpPr txBox="1"/>
          <p:nvPr/>
        </p:nvSpPr>
        <p:spPr>
          <a:xfrm>
            <a:off x="6263640" y="3611880"/>
            <a:ext cx="2423160" cy="914400"/>
          </a:xfrm>
          <a:prstGeom prst="rect">
            <a:avLst/>
          </a:prstGeom>
          <a:noFill/>
          <a:ln/>
        </p:spPr>
        <p:txBody>
          <a:bodyPr wrap="square" lIns="0" tIns="0" rIns="0" bIns="0" rtlCol="0" anchor="ctr"/>
          <a:lstStyle/>
          <a:p>
            <a:pPr indent="0" marL="0">
              <a:buNone/>
            </a:pPr>
            <a:r>
              <a:rPr lang="en-US" sz="950" b="1" dirty="0">
                <a:solidFill>
                  <a:srgbClr val="93C5FD"/>
                </a:solidFill>
                <a:latin typeface="Calibri" pitchFamily="34" charset="0"/>
                <a:ea typeface="Calibri" pitchFamily="34" charset="-122"/>
                <a:cs typeface="Calibri" pitchFamily="34" charset="-120"/>
              </a:rPr>
              <a:t>DATA</a:t>
            </a:r>
            <a:endParaRPr lang="en-US" sz="950" dirty="0"/>
          </a:p>
          <a:p>
            <a:pPr indent="0" marL="0">
              <a:buNone/>
            </a:pPr>
            <a:r>
              <a:rPr lang="en-US" sz="1200" dirty="0">
                <a:solidFill>
                  <a:srgbClr val="FFFFFF"/>
                </a:solidFill>
                <a:latin typeface="Calibri" pitchFamily="34" charset="0"/>
                <a:ea typeface="Calibri" pitchFamily="34" charset="-122"/>
                <a:cs typeface="Calibri" pitchFamily="34" charset="-120"/>
              </a:rPr>
              <a:t>PostgreSQL via Spring Data JPA (rism_db)</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3</a:t>
            </a:r>
            <a:endParaRPr lang="en-US" sz="850" dirty="0"/>
          </a:p>
        </p:txBody>
      </p:sp>
      <p:sp>
        <p:nvSpPr>
          <p:cNvPr id="4" name="Text 2"/>
          <p:cNvSpPr txBox="1"/>
          <p:nvPr/>
        </p:nvSpPr>
        <p:spPr>
          <a:xfrm>
            <a:off x="457200" y="365760"/>
            <a:ext cx="7315200" cy="54864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Proposed Solution</a:t>
            </a:r>
            <a:endParaRPr lang="en-US" sz="32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From scattered records to one trusted source of stock information.</a:t>
            </a:r>
            <a:endParaRPr lang="en-US" sz="1300" dirty="0"/>
          </a:p>
        </p:txBody>
      </p:sp>
      <p:sp>
        <p:nvSpPr>
          <p:cNvPr id="6" name="Shape 4"/>
          <p:cNvSpPr/>
          <p:nvPr/>
        </p:nvSpPr>
        <p:spPr>
          <a:xfrm>
            <a:off x="457200" y="1463040"/>
            <a:ext cx="3566160" cy="2423160"/>
          </a:xfrm>
          <a:prstGeom prst="roundRect">
            <a:avLst>
              <a:gd name="adj" fmla="val 3019"/>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7" name="Text 5"/>
          <p:cNvSpPr txBox="1"/>
          <p:nvPr/>
        </p:nvSpPr>
        <p:spPr>
          <a:xfrm>
            <a:off x="640080" y="1572768"/>
            <a:ext cx="3200400" cy="228600"/>
          </a:xfrm>
          <a:prstGeom prst="rect">
            <a:avLst/>
          </a:prstGeom>
          <a:noFill/>
          <a:ln/>
        </p:spPr>
        <p:txBody>
          <a:bodyPr wrap="square" lIns="0" tIns="0" rIns="0" bIns="0" rtlCol="0" anchor="ctr"/>
          <a:lstStyle/>
          <a:p>
            <a:pPr indent="0" marL="0">
              <a:buNone/>
            </a:pPr>
            <a:r>
              <a:rPr lang="en-US" sz="1000" b="1" dirty="0">
                <a:solidFill>
                  <a:srgbClr val="DC2626"/>
                </a:solidFill>
                <a:latin typeface="Calibri" pitchFamily="34" charset="0"/>
                <a:ea typeface="Calibri" pitchFamily="34" charset="-122"/>
                <a:cs typeface="Calibri" pitchFamily="34" charset="-120"/>
              </a:rPr>
              <a:t>TODAY: THE PROBLEM</a:t>
            </a:r>
            <a:endParaRPr lang="en-US" sz="1000" dirty="0"/>
          </a:p>
        </p:txBody>
      </p:sp>
      <p:sp>
        <p:nvSpPr>
          <p:cNvPr id="8" name="Text 6"/>
          <p:cNvSpPr txBox="1"/>
          <p:nvPr/>
        </p:nvSpPr>
        <p:spPr>
          <a:xfrm>
            <a:off x="640080" y="1874520"/>
            <a:ext cx="3200400"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Stock kept in spreadsheets and registers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Data goes stale; people see different numbers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Manual entry causes errors</a:t>
            </a:r>
            <a:endParaRPr lang="en-US" sz="1250" dirty="0"/>
          </a:p>
          <a:p>
            <a:pPr marL="342900" indent="-342900">
              <a:spcAft>
                <a:spcPts val="600"/>
              </a:spcAft>
              <a:buSzPct val="100000"/>
              <a:buChar char="•"/>
            </a:pPr>
            <a:r>
              <a:rPr lang="en-US" sz="1250" dirty="0">
                <a:solidFill>
                  <a:srgbClr val="1E293B"/>
                </a:solidFill>
                <a:latin typeface="Calibri" pitchFamily="34" charset="0"/>
                <a:ea typeface="Calibri" pitchFamily="34" charset="-122"/>
                <a:cs typeface="Calibri" pitchFamily="34" charset="-120"/>
              </a:rPr>
              <a:t>Reorders are noticed too late</a:t>
            </a:r>
            <a:endParaRPr lang="en-US" sz="1250" dirty="0"/>
          </a:p>
        </p:txBody>
      </p:sp>
      <p:sp>
        <p:nvSpPr>
          <p:cNvPr id="9" name="Shape 7"/>
          <p:cNvSpPr/>
          <p:nvPr/>
        </p:nvSpPr>
        <p:spPr>
          <a:xfrm>
            <a:off x="4114800" y="2423160"/>
            <a:ext cx="640080" cy="502920"/>
          </a:xfrm>
          <a:prstGeom prst="rightArrow">
            <a:avLst/>
          </a:prstGeom>
          <a:solidFill>
            <a:srgbClr val="2563EB"/>
          </a:solidFill>
          <a:ln w="12700">
            <a:solidFill>
              <a:srgbClr val="2563EB"/>
            </a:solidFill>
            <a:prstDash val="solid"/>
          </a:ln>
        </p:spPr>
      </p:sp>
      <p:sp>
        <p:nvSpPr>
          <p:cNvPr id="10" name="Shape 8"/>
          <p:cNvSpPr/>
          <p:nvPr/>
        </p:nvSpPr>
        <p:spPr>
          <a:xfrm>
            <a:off x="4846320" y="1463040"/>
            <a:ext cx="3840480" cy="2423160"/>
          </a:xfrm>
          <a:prstGeom prst="roundRect">
            <a:avLst>
              <a:gd name="adj" fmla="val 3019"/>
            </a:avLst>
          </a:prstGeom>
          <a:solidFill>
            <a:srgbClr val="0F172A"/>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1" name="Text 9"/>
          <p:cNvSpPr txBox="1"/>
          <p:nvPr/>
        </p:nvSpPr>
        <p:spPr>
          <a:xfrm>
            <a:off x="5029200" y="1572768"/>
            <a:ext cx="3474720" cy="228600"/>
          </a:xfrm>
          <a:prstGeom prst="rect">
            <a:avLst/>
          </a:prstGeom>
          <a:noFill/>
          <a:ln/>
        </p:spPr>
        <p:txBody>
          <a:bodyPr wrap="square" lIns="0" tIns="0" rIns="0" bIns="0" rtlCol="0" anchor="ctr"/>
          <a:lstStyle/>
          <a:p>
            <a:pPr indent="0" marL="0">
              <a:buNone/>
            </a:pPr>
            <a:r>
              <a:rPr lang="en-US" sz="1000" b="1" dirty="0">
                <a:solidFill>
                  <a:srgbClr val="93C5FD"/>
                </a:solidFill>
                <a:latin typeface="Calibri" pitchFamily="34" charset="0"/>
                <a:ea typeface="Calibri" pitchFamily="34" charset="-122"/>
                <a:cs typeface="Calibri" pitchFamily="34" charset="-120"/>
              </a:rPr>
              <a:t>PROPOSED: RETAIL COMMAND CENTER</a:t>
            </a:r>
            <a:endParaRPr lang="en-US" sz="1000" dirty="0"/>
          </a:p>
        </p:txBody>
      </p:sp>
      <p:sp>
        <p:nvSpPr>
          <p:cNvPr id="12" name="Text 10"/>
          <p:cNvSpPr txBox="1"/>
          <p:nvPr/>
        </p:nvSpPr>
        <p:spPr>
          <a:xfrm>
            <a:off x="5029200" y="1874520"/>
            <a:ext cx="3474720"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One web platform on a single PostgreSQL database</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Automatic stock reservation and low-stock alerts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Role-based portals for admin, supplier and customer</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Dashboard and CSV reports from any browser</a:t>
            </a:r>
            <a:endParaRPr lang="en-US" sz="1250" dirty="0"/>
          </a:p>
        </p:txBody>
      </p:sp>
      <p:sp>
        <p:nvSpPr>
          <p:cNvPr id="13" name="Shape 11"/>
          <p:cNvSpPr/>
          <p:nvPr/>
        </p:nvSpPr>
        <p:spPr>
          <a:xfrm>
            <a:off x="457200" y="4069080"/>
            <a:ext cx="1938528" cy="640080"/>
          </a:xfrm>
          <a:prstGeom prst="roundRect">
            <a:avLst>
              <a:gd name="adj" fmla="val 11429"/>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4" name="Text 12"/>
          <p:cNvSpPr txBox="1"/>
          <p:nvPr/>
        </p:nvSpPr>
        <p:spPr>
          <a:xfrm>
            <a:off x="548640" y="4069080"/>
            <a:ext cx="1755648" cy="640080"/>
          </a:xfrm>
          <a:prstGeom prst="rect">
            <a:avLst/>
          </a:prstGeom>
          <a:noFill/>
          <a:ln/>
        </p:spPr>
        <p:txBody>
          <a:bodyPr wrap="square" lIns="0" tIns="0" rIns="0" bIns="0" rtlCol="0" anchor="ctr"/>
          <a:lstStyle/>
          <a:p>
            <a:pPr algn="ctr" indent="0" marL="0">
              <a:buNone/>
            </a:pPr>
            <a:r>
              <a:rPr lang="en-US" sz="1150" b="1" dirty="0">
                <a:solidFill>
                  <a:srgbClr val="2563EB"/>
                </a:solidFill>
                <a:latin typeface="Calibri" pitchFamily="34" charset="0"/>
                <a:ea typeface="Calibri" pitchFamily="34" charset="-122"/>
                <a:cs typeface="Calibri" pitchFamily="34" charset="-120"/>
              </a:rPr>
              <a:t>Single source of truth</a:t>
            </a:r>
            <a:endParaRPr lang="en-US" sz="1150" dirty="0"/>
          </a:p>
        </p:txBody>
      </p:sp>
      <p:sp>
        <p:nvSpPr>
          <p:cNvPr id="15" name="Shape 13"/>
          <p:cNvSpPr/>
          <p:nvPr/>
        </p:nvSpPr>
        <p:spPr>
          <a:xfrm>
            <a:off x="2532888" y="4069080"/>
            <a:ext cx="1938528" cy="640080"/>
          </a:xfrm>
          <a:prstGeom prst="roundRect">
            <a:avLst>
              <a:gd name="adj" fmla="val 11429"/>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6" name="Text 14"/>
          <p:cNvSpPr txBox="1"/>
          <p:nvPr/>
        </p:nvSpPr>
        <p:spPr>
          <a:xfrm>
            <a:off x="2624328" y="4069080"/>
            <a:ext cx="1755648" cy="640080"/>
          </a:xfrm>
          <a:prstGeom prst="rect">
            <a:avLst/>
          </a:prstGeom>
          <a:noFill/>
          <a:ln/>
        </p:spPr>
        <p:txBody>
          <a:bodyPr wrap="square" lIns="0" tIns="0" rIns="0" bIns="0" rtlCol="0" anchor="ctr"/>
          <a:lstStyle/>
          <a:p>
            <a:pPr algn="ctr" indent="0" marL="0">
              <a:buNone/>
            </a:pPr>
            <a:r>
              <a:rPr lang="en-US" sz="1150" b="1" dirty="0">
                <a:solidFill>
                  <a:srgbClr val="2563EB"/>
                </a:solidFill>
                <a:latin typeface="Calibri" pitchFamily="34" charset="0"/>
                <a:ea typeface="Calibri" pitchFamily="34" charset="-122"/>
                <a:cs typeface="Calibri" pitchFamily="34" charset="-120"/>
              </a:rPr>
              <a:t>Fewer manual errors</a:t>
            </a:r>
            <a:endParaRPr lang="en-US" sz="1150" dirty="0"/>
          </a:p>
        </p:txBody>
      </p:sp>
      <p:sp>
        <p:nvSpPr>
          <p:cNvPr id="17" name="Shape 15"/>
          <p:cNvSpPr/>
          <p:nvPr/>
        </p:nvSpPr>
        <p:spPr>
          <a:xfrm>
            <a:off x="4608576" y="4069080"/>
            <a:ext cx="1938528" cy="640080"/>
          </a:xfrm>
          <a:prstGeom prst="roundRect">
            <a:avLst>
              <a:gd name="adj" fmla="val 11429"/>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8" name="Text 16"/>
          <p:cNvSpPr txBox="1"/>
          <p:nvPr/>
        </p:nvSpPr>
        <p:spPr>
          <a:xfrm>
            <a:off x="4700016" y="4069080"/>
            <a:ext cx="1755648" cy="640080"/>
          </a:xfrm>
          <a:prstGeom prst="rect">
            <a:avLst/>
          </a:prstGeom>
          <a:noFill/>
          <a:ln/>
        </p:spPr>
        <p:txBody>
          <a:bodyPr wrap="square" lIns="0" tIns="0" rIns="0" bIns="0" rtlCol="0" anchor="ctr"/>
          <a:lstStyle/>
          <a:p>
            <a:pPr algn="ctr" indent="0" marL="0">
              <a:buNone/>
            </a:pPr>
            <a:r>
              <a:rPr lang="en-US" sz="1150" b="1" dirty="0">
                <a:solidFill>
                  <a:srgbClr val="2563EB"/>
                </a:solidFill>
                <a:latin typeface="Calibri" pitchFamily="34" charset="0"/>
                <a:ea typeface="Calibri" pitchFamily="34" charset="-122"/>
                <a:cs typeface="Calibri" pitchFamily="34" charset="-120"/>
              </a:rPr>
              <a:t>Faster stock and order status</a:t>
            </a:r>
            <a:endParaRPr lang="en-US" sz="1150" dirty="0"/>
          </a:p>
        </p:txBody>
      </p:sp>
      <p:sp>
        <p:nvSpPr>
          <p:cNvPr id="19" name="Shape 17"/>
          <p:cNvSpPr/>
          <p:nvPr/>
        </p:nvSpPr>
        <p:spPr>
          <a:xfrm>
            <a:off x="6684264" y="4069080"/>
            <a:ext cx="1938528" cy="640080"/>
          </a:xfrm>
          <a:prstGeom prst="roundRect">
            <a:avLst>
              <a:gd name="adj" fmla="val 11429"/>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0" name="Text 18"/>
          <p:cNvSpPr txBox="1"/>
          <p:nvPr/>
        </p:nvSpPr>
        <p:spPr>
          <a:xfrm>
            <a:off x="6775704" y="4069080"/>
            <a:ext cx="1755648" cy="640080"/>
          </a:xfrm>
          <a:prstGeom prst="rect">
            <a:avLst/>
          </a:prstGeom>
          <a:noFill/>
          <a:ln/>
        </p:spPr>
        <p:txBody>
          <a:bodyPr wrap="square" lIns="0" tIns="0" rIns="0" bIns="0" rtlCol="0" anchor="ctr"/>
          <a:lstStyle/>
          <a:p>
            <a:pPr algn="ctr" indent="0" marL="0">
              <a:buNone/>
            </a:pPr>
            <a:r>
              <a:rPr lang="en-US" sz="1150" b="1" dirty="0">
                <a:solidFill>
                  <a:srgbClr val="2563EB"/>
                </a:solidFill>
                <a:latin typeface="Calibri" pitchFamily="34" charset="0"/>
                <a:ea typeface="Calibri" pitchFamily="34" charset="-122"/>
                <a:cs typeface="Calibri" pitchFamily="34" charset="-120"/>
              </a:rPr>
              <a:t>Timely reorder alerts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4</a:t>
            </a:r>
            <a:endParaRPr lang="en-US" sz="850" dirty="0"/>
          </a:p>
        </p:txBody>
      </p:sp>
      <p:sp>
        <p:nvSpPr>
          <p:cNvPr id="4" name="Text 2"/>
          <p:cNvSpPr txBox="1"/>
          <p:nvPr/>
        </p:nvSpPr>
        <p:spPr>
          <a:xfrm>
            <a:off x="457200" y="365760"/>
            <a:ext cx="7315200" cy="54864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Technology Stack</a:t>
            </a:r>
            <a:endParaRPr lang="en-US" sz="32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 self-contained three-tier system built only with free, open-source tools.</a:t>
            </a:r>
            <a:endParaRPr lang="en-US" sz="1300" dirty="0"/>
          </a:p>
        </p:txBody>
      </p:sp>
      <p:sp>
        <p:nvSpPr>
          <p:cNvPr id="6" name="Shape 4"/>
          <p:cNvSpPr/>
          <p:nvPr/>
        </p:nvSpPr>
        <p:spPr>
          <a:xfrm>
            <a:off x="457200" y="1417320"/>
            <a:ext cx="5120640" cy="658368"/>
          </a:xfrm>
          <a:prstGeom prst="roundRect">
            <a:avLst>
              <a:gd name="adj" fmla="val 11111"/>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7" name="Shape 5"/>
          <p:cNvSpPr/>
          <p:nvPr/>
        </p:nvSpPr>
        <p:spPr>
          <a:xfrm>
            <a:off x="594360" y="1572768"/>
            <a:ext cx="347472" cy="347472"/>
          </a:xfrm>
          <a:prstGeom prst="ellipse">
            <a:avLst/>
          </a:prstGeom>
          <a:solidFill>
            <a:srgbClr val="2563EB"/>
          </a:solidFill>
          <a:ln w="12700">
            <a:solidFill>
              <a:srgbClr val="2563EB"/>
            </a:solidFill>
            <a:prstDash val="solid"/>
          </a:ln>
        </p:spPr>
      </p:sp>
      <p:sp>
        <p:nvSpPr>
          <p:cNvPr id="8" name="Text 6"/>
          <p:cNvSpPr txBox="1"/>
          <p:nvPr/>
        </p:nvSpPr>
        <p:spPr>
          <a:xfrm>
            <a:off x="594360" y="15727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9" name="Text 7"/>
          <p:cNvSpPr txBox="1"/>
          <p:nvPr/>
        </p:nvSpPr>
        <p:spPr>
          <a:xfrm>
            <a:off x="1097280" y="1417320"/>
            <a:ext cx="4389120" cy="658368"/>
          </a:xfrm>
          <a:prstGeom prst="rect">
            <a:avLst/>
          </a:prstGeom>
          <a:noFill/>
          <a:ln/>
        </p:spPr>
        <p:txBody>
          <a:bodyPr wrap="square" lIns="0" tIns="0" rIns="0" bIns="0" rtlCol="0" anchor="ctr"/>
          <a:lstStyle/>
          <a:p>
            <a:pPr indent="0" marL="0">
              <a:buNone/>
            </a:pPr>
            <a:r>
              <a:rPr lang="en-US" sz="900" b="1" dirty="0">
                <a:solidFill>
                  <a:srgbClr val="2563EB"/>
                </a:solidFill>
                <a:latin typeface="Calibri" pitchFamily="34" charset="0"/>
                <a:ea typeface="Calibri" pitchFamily="34" charset="-122"/>
                <a:cs typeface="Calibri" pitchFamily="34" charset="-120"/>
              </a:rPr>
              <a:t>PRESENTATION TIER</a:t>
            </a:r>
            <a:endParaRPr lang="en-US" sz="900" dirty="0"/>
          </a:p>
          <a:p>
            <a:pPr indent="0" marL="0">
              <a:buNone/>
            </a:pPr>
            <a:r>
              <a:rPr lang="en-US" sz="1250" b="1" dirty="0">
                <a:solidFill>
                  <a:srgbClr val="0F172A"/>
                </a:solidFill>
                <a:latin typeface="Calibri" pitchFamily="34" charset="0"/>
                <a:ea typeface="Calibri" pitchFamily="34" charset="-122"/>
                <a:cs typeface="Calibri" pitchFamily="34" charset="-120"/>
              </a:rPr>
              <a:t>React + TypeScript (Vite, port 5173)</a:t>
            </a:r>
            <a:endParaRPr lang="en-US" sz="900" dirty="0"/>
          </a:p>
          <a:p>
            <a:pPr indent="0" marL="0">
              <a:buNone/>
            </a:pPr>
            <a:r>
              <a:rPr lang="en-US" sz="1000" dirty="0">
                <a:solidFill>
                  <a:srgbClr val="64748B"/>
                </a:solidFill>
                <a:latin typeface="Calibri" pitchFamily="34" charset="0"/>
                <a:ea typeface="Calibri" pitchFamily="34" charset="-122"/>
                <a:cs typeface="Calibri" pitchFamily="34" charset="-120"/>
              </a:rPr>
              <a:t>Axios for REST calls, React Router, Recharts charts</a:t>
            </a:r>
            <a:endParaRPr lang="en-US" sz="900" dirty="0"/>
          </a:p>
        </p:txBody>
      </p:sp>
      <p:sp>
        <p:nvSpPr>
          <p:cNvPr id="10" name="Shape 8"/>
          <p:cNvSpPr/>
          <p:nvPr/>
        </p:nvSpPr>
        <p:spPr>
          <a:xfrm>
            <a:off x="457200" y="2240280"/>
            <a:ext cx="5120640" cy="658368"/>
          </a:xfrm>
          <a:prstGeom prst="roundRect">
            <a:avLst>
              <a:gd name="adj" fmla="val 11111"/>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1" name="Shape 9"/>
          <p:cNvSpPr/>
          <p:nvPr/>
        </p:nvSpPr>
        <p:spPr>
          <a:xfrm>
            <a:off x="594360" y="2395728"/>
            <a:ext cx="347472" cy="347472"/>
          </a:xfrm>
          <a:prstGeom prst="ellipse">
            <a:avLst/>
          </a:prstGeom>
          <a:solidFill>
            <a:srgbClr val="059669"/>
          </a:solidFill>
          <a:ln w="12700">
            <a:solidFill>
              <a:srgbClr val="059669"/>
            </a:solidFill>
            <a:prstDash val="solid"/>
          </a:ln>
        </p:spPr>
      </p:sp>
      <p:sp>
        <p:nvSpPr>
          <p:cNvPr id="12" name="Text 10"/>
          <p:cNvSpPr txBox="1"/>
          <p:nvPr/>
        </p:nvSpPr>
        <p:spPr>
          <a:xfrm>
            <a:off x="594360" y="239572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1097280" y="2240280"/>
            <a:ext cx="4389120" cy="658368"/>
          </a:xfrm>
          <a:prstGeom prst="rect">
            <a:avLst/>
          </a:prstGeom>
          <a:noFill/>
          <a:ln/>
        </p:spPr>
        <p:txBody>
          <a:bodyPr wrap="square" lIns="0" tIns="0" rIns="0" bIns="0" rtlCol="0" anchor="ctr"/>
          <a:lstStyle/>
          <a:p>
            <a:pPr indent="0" marL="0">
              <a:buNone/>
            </a:pPr>
            <a:r>
              <a:rPr lang="en-US" sz="900" b="1" dirty="0">
                <a:solidFill>
                  <a:srgbClr val="059669"/>
                </a:solidFill>
                <a:latin typeface="Calibri" pitchFamily="34" charset="0"/>
                <a:ea typeface="Calibri" pitchFamily="34" charset="-122"/>
                <a:cs typeface="Calibri" pitchFamily="34" charset="-120"/>
              </a:rPr>
              <a:t>APPLICATION TIER</a:t>
            </a:r>
            <a:endParaRPr lang="en-US" sz="900" dirty="0"/>
          </a:p>
          <a:p>
            <a:pPr indent="0" marL="0">
              <a:buNone/>
            </a:pPr>
            <a:r>
              <a:rPr lang="en-US" sz="1250" b="1" dirty="0">
                <a:solidFill>
                  <a:srgbClr val="0F172A"/>
                </a:solidFill>
                <a:latin typeface="Calibri" pitchFamily="34" charset="0"/>
                <a:ea typeface="Calibri" pitchFamily="34" charset="-122"/>
                <a:cs typeface="Calibri" pitchFamily="34" charset="-120"/>
              </a:rPr>
              <a:t>Java 17, Spring Boot 3.2 (port 8080)</a:t>
            </a:r>
            <a:endParaRPr lang="en-US" sz="900" dirty="0"/>
          </a:p>
          <a:p>
            <a:pPr indent="0" marL="0">
              <a:buNone/>
            </a:pPr>
            <a:r>
              <a:rPr lang="en-US" sz="1000" dirty="0">
                <a:solidFill>
                  <a:srgbClr val="64748B"/>
                </a:solidFill>
                <a:latin typeface="Calibri" pitchFamily="34" charset="0"/>
                <a:ea typeface="Calibri" pitchFamily="34" charset="-122"/>
                <a:cs typeface="Calibri" pitchFamily="34" charset="-120"/>
              </a:rPr>
              <a:t>Spring Security + JWT, BCrypt, Spring Mail (SMTP)</a:t>
            </a:r>
            <a:endParaRPr lang="en-US" sz="900" dirty="0"/>
          </a:p>
        </p:txBody>
      </p:sp>
      <p:sp>
        <p:nvSpPr>
          <p:cNvPr id="14" name="Shape 12"/>
          <p:cNvSpPr/>
          <p:nvPr/>
        </p:nvSpPr>
        <p:spPr>
          <a:xfrm>
            <a:off x="457200" y="3063240"/>
            <a:ext cx="5120640" cy="658368"/>
          </a:xfrm>
          <a:prstGeom prst="roundRect">
            <a:avLst>
              <a:gd name="adj" fmla="val 11111"/>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5" name="Shape 13"/>
          <p:cNvSpPr/>
          <p:nvPr/>
        </p:nvSpPr>
        <p:spPr>
          <a:xfrm>
            <a:off x="594360" y="3218688"/>
            <a:ext cx="347472" cy="347472"/>
          </a:xfrm>
          <a:prstGeom prst="ellipse">
            <a:avLst/>
          </a:prstGeom>
          <a:solidFill>
            <a:srgbClr val="D97706"/>
          </a:solidFill>
          <a:ln w="12700">
            <a:solidFill>
              <a:srgbClr val="D97706"/>
            </a:solidFill>
            <a:prstDash val="solid"/>
          </a:ln>
        </p:spPr>
      </p:sp>
      <p:sp>
        <p:nvSpPr>
          <p:cNvPr id="16" name="Text 14"/>
          <p:cNvSpPr txBox="1"/>
          <p:nvPr/>
        </p:nvSpPr>
        <p:spPr>
          <a:xfrm>
            <a:off x="594360" y="321868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txBox="1"/>
          <p:nvPr/>
        </p:nvSpPr>
        <p:spPr>
          <a:xfrm>
            <a:off x="1097280" y="3063240"/>
            <a:ext cx="4389120" cy="658368"/>
          </a:xfrm>
          <a:prstGeom prst="rect">
            <a:avLst/>
          </a:prstGeom>
          <a:noFill/>
          <a:ln/>
        </p:spPr>
        <p:txBody>
          <a:bodyPr wrap="square" lIns="0" tIns="0" rIns="0" bIns="0" rtlCol="0" anchor="ctr"/>
          <a:lstStyle/>
          <a:p>
            <a:pPr indent="0" marL="0">
              <a:buNone/>
            </a:pPr>
            <a:r>
              <a:rPr lang="en-US" sz="900" b="1" dirty="0">
                <a:solidFill>
                  <a:srgbClr val="D97706"/>
                </a:solidFill>
                <a:latin typeface="Calibri" pitchFamily="34" charset="0"/>
                <a:ea typeface="Calibri" pitchFamily="34" charset="-122"/>
                <a:cs typeface="Calibri" pitchFamily="34" charset="-120"/>
              </a:rPr>
              <a:t>PERSISTENCE TIER</a:t>
            </a:r>
            <a:endParaRPr lang="en-US" sz="900" dirty="0"/>
          </a:p>
          <a:p>
            <a:pPr indent="0" marL="0">
              <a:buNone/>
            </a:pPr>
            <a:r>
              <a:rPr lang="en-US" sz="1250" b="1" dirty="0">
                <a:solidFill>
                  <a:srgbClr val="0F172A"/>
                </a:solidFill>
                <a:latin typeface="Calibri" pitchFamily="34" charset="0"/>
                <a:ea typeface="Calibri" pitchFamily="34" charset="-122"/>
                <a:cs typeface="Calibri" pitchFamily="34" charset="-120"/>
              </a:rPr>
              <a:t>Spring Data JPA / Hibernate</a:t>
            </a:r>
            <a:endParaRPr lang="en-US" sz="900" dirty="0"/>
          </a:p>
          <a:p>
            <a:pPr indent="0" marL="0">
              <a:buNone/>
            </a:pPr>
            <a:r>
              <a:rPr lang="en-US" sz="1000" dirty="0">
                <a:solidFill>
                  <a:srgbClr val="64748B"/>
                </a:solidFill>
                <a:latin typeface="Calibri" pitchFamily="34" charset="0"/>
                <a:ea typeface="Calibri" pitchFamily="34" charset="-122"/>
                <a:cs typeface="Calibri" pitchFamily="34" charset="-120"/>
              </a:rPr>
              <a:t>Controller &gt; Service &gt; Repository &gt; Entity layers</a:t>
            </a:r>
            <a:endParaRPr lang="en-US" sz="900" dirty="0"/>
          </a:p>
        </p:txBody>
      </p:sp>
      <p:sp>
        <p:nvSpPr>
          <p:cNvPr id="18" name="Shape 16"/>
          <p:cNvSpPr/>
          <p:nvPr/>
        </p:nvSpPr>
        <p:spPr>
          <a:xfrm>
            <a:off x="457200" y="3886200"/>
            <a:ext cx="5120640" cy="658368"/>
          </a:xfrm>
          <a:prstGeom prst="roundRect">
            <a:avLst>
              <a:gd name="adj" fmla="val 11111"/>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9" name="Shape 17"/>
          <p:cNvSpPr/>
          <p:nvPr/>
        </p:nvSpPr>
        <p:spPr>
          <a:xfrm>
            <a:off x="594360" y="4041648"/>
            <a:ext cx="347472" cy="347472"/>
          </a:xfrm>
          <a:prstGeom prst="ellipse">
            <a:avLst/>
          </a:prstGeom>
          <a:solidFill>
            <a:srgbClr val="0F172A"/>
          </a:solidFill>
          <a:ln w="12700">
            <a:solidFill>
              <a:srgbClr val="0F172A"/>
            </a:solidFill>
            <a:prstDash val="solid"/>
          </a:ln>
        </p:spPr>
      </p:sp>
      <p:sp>
        <p:nvSpPr>
          <p:cNvPr id="20" name="Text 18"/>
          <p:cNvSpPr txBox="1"/>
          <p:nvPr/>
        </p:nvSpPr>
        <p:spPr>
          <a:xfrm>
            <a:off x="594360" y="40416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1" name="Text 19"/>
          <p:cNvSpPr txBox="1"/>
          <p:nvPr/>
        </p:nvSpPr>
        <p:spPr>
          <a:xfrm>
            <a:off x="1097280" y="3886200"/>
            <a:ext cx="4389120" cy="658368"/>
          </a:xfrm>
          <a:prstGeom prst="rect">
            <a:avLst/>
          </a:prstGeom>
          <a:noFill/>
          <a:ln/>
        </p:spPr>
        <p:txBody>
          <a:bodyPr wrap="square" lIns="0" tIns="0" rIns="0" bIns="0" rtlCol="0" anchor="ctr"/>
          <a:lstStyle/>
          <a:p>
            <a:pPr indent="0" marL="0">
              <a:buNone/>
            </a:pPr>
            <a:r>
              <a:rPr lang="en-US" sz="900" b="1" dirty="0">
                <a:solidFill>
                  <a:srgbClr val="0F172A"/>
                </a:solidFill>
                <a:latin typeface="Calibri" pitchFamily="34" charset="0"/>
                <a:ea typeface="Calibri" pitchFamily="34" charset="-122"/>
                <a:cs typeface="Calibri" pitchFamily="34" charset="-120"/>
              </a:rPr>
              <a:t>DATA TIER</a:t>
            </a:r>
            <a:endParaRPr lang="en-US" sz="900" dirty="0"/>
          </a:p>
          <a:p>
            <a:pPr indent="0" marL="0">
              <a:buNone/>
            </a:pPr>
            <a:r>
              <a:rPr lang="en-US" sz="1250" b="1" dirty="0">
                <a:solidFill>
                  <a:srgbClr val="0F172A"/>
                </a:solidFill>
                <a:latin typeface="Calibri" pitchFamily="34" charset="0"/>
                <a:ea typeface="Calibri" pitchFamily="34" charset="-122"/>
                <a:cs typeface="Calibri" pitchFamily="34" charset="-120"/>
              </a:rPr>
              <a:t>PostgreSQL (rism_db, port 5432)</a:t>
            </a:r>
            <a:endParaRPr lang="en-US" sz="900" dirty="0"/>
          </a:p>
          <a:p>
            <a:pPr indent="0" marL="0">
              <a:buNone/>
            </a:pPr>
            <a:r>
              <a:rPr lang="en-US" sz="1000" dirty="0">
                <a:solidFill>
                  <a:srgbClr val="64748B"/>
                </a:solidFill>
                <a:latin typeface="Calibri" pitchFamily="34" charset="0"/>
                <a:ea typeface="Calibri" pitchFamily="34" charset="-122"/>
                <a:cs typeface="Calibri" pitchFamily="34" charset="-120"/>
              </a:rPr>
              <a:t>PostgreSQL JDBC driver, relational keys and CHECK constraints</a:t>
            </a:r>
            <a:endParaRPr lang="en-US" sz="900" dirty="0"/>
          </a:p>
        </p:txBody>
      </p:sp>
      <p:sp>
        <p:nvSpPr>
          <p:cNvPr id="22" name="Shape 20"/>
          <p:cNvSpPr/>
          <p:nvPr/>
        </p:nvSpPr>
        <p:spPr>
          <a:xfrm>
            <a:off x="5852160" y="1417320"/>
            <a:ext cx="2834640" cy="3127248"/>
          </a:xfrm>
          <a:prstGeom prst="roundRect">
            <a:avLst>
              <a:gd name="adj" fmla="val 2581"/>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3" name="Text 21"/>
          <p:cNvSpPr txBox="1"/>
          <p:nvPr/>
        </p:nvSpPr>
        <p:spPr>
          <a:xfrm>
            <a:off x="6035040" y="1536192"/>
            <a:ext cx="2468880" cy="2286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TOOLS &amp; DEPLOYMENT</a:t>
            </a:r>
            <a:endParaRPr lang="en-US" sz="1000" dirty="0"/>
          </a:p>
        </p:txBody>
      </p:sp>
      <p:sp>
        <p:nvSpPr>
          <p:cNvPr id="24" name="Text 22"/>
          <p:cNvSpPr txBox="1"/>
          <p:nvPr/>
        </p:nvSpPr>
        <p:spPr>
          <a:xfrm>
            <a:off x="6035040" y="1828800"/>
            <a:ext cx="2514600" cy="265176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REST APIs exchanging UTF-8 JSON over HTTP (HTTPS in production)</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JWT stateless auth, 24-hour expiry</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Maven (pom.xml) and npm (package.json)</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Docker Compose for containers</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Git for version control</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Postman and browser dev tools for testing</a:t>
            </a:r>
            <a:endParaRPr lang="en-US" sz="1050" dirty="0"/>
          </a:p>
          <a:p>
            <a:pPr marL="342900" indent="-342900">
              <a:spcAft>
                <a:spcPts val="500"/>
              </a:spcAft>
              <a:buSzPct val="100000"/>
              <a:buChar char="•"/>
            </a:pPr>
            <a:r>
              <a:rPr lang="en-US" sz="1050" dirty="0">
                <a:solidFill>
                  <a:srgbClr val="1E293B"/>
                </a:solidFill>
                <a:latin typeface="Calibri" pitchFamily="34" charset="0"/>
                <a:ea typeface="Calibri" pitchFamily="34" charset="-122"/>
                <a:cs typeface="Calibri" pitchFamily="34" charset="-120"/>
              </a:rPr>
              <a:t>Chrome, Edge, Firefox, Safari supported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5</a:t>
            </a:r>
            <a:endParaRPr lang="en-US" sz="850" dirty="0"/>
          </a:p>
        </p:txBody>
      </p:sp>
      <p:sp>
        <p:nvSpPr>
          <p:cNvPr id="4" name="Text 2"/>
          <p:cNvSpPr txBox="1"/>
          <p:nvPr/>
        </p:nvSpPr>
        <p:spPr>
          <a:xfrm>
            <a:off x="457200" y="365760"/>
            <a:ext cx="6400800" cy="54864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User Roles and Access</a:t>
            </a:r>
            <a:endParaRPr lang="en-US" sz="3200" dirty="0"/>
          </a:p>
        </p:txBody>
      </p:sp>
      <p:sp>
        <p:nvSpPr>
          <p:cNvPr id="5" name="Text 3"/>
          <p:cNvSpPr txBox="1"/>
          <p:nvPr/>
        </p:nvSpPr>
        <p:spPr>
          <a:xfrm>
            <a:off x="457200" y="914400"/>
            <a:ext cx="77724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After login, JWT roles decide which portal opens and which pages and APIs are reachable.</a:t>
            </a:r>
            <a:endParaRPr lang="en-US" sz="1300" dirty="0"/>
          </a:p>
        </p:txBody>
      </p:sp>
      <p:sp>
        <p:nvSpPr>
          <p:cNvPr id="6" name="Shape 4"/>
          <p:cNvSpPr/>
          <p:nvPr/>
        </p:nvSpPr>
        <p:spPr>
          <a:xfrm>
            <a:off x="457200" y="1463040"/>
            <a:ext cx="1938528" cy="2880360"/>
          </a:xfrm>
          <a:prstGeom prst="roundRect">
            <a:avLst>
              <a:gd name="adj" fmla="val 377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7" name="Shape 5"/>
          <p:cNvSpPr/>
          <p:nvPr/>
        </p:nvSpPr>
        <p:spPr>
          <a:xfrm>
            <a:off x="594360" y="1627632"/>
            <a:ext cx="457200" cy="457200"/>
          </a:xfrm>
          <a:prstGeom prst="ellipse">
            <a:avLst/>
          </a:prstGeom>
          <a:solidFill>
            <a:srgbClr val="2563EB"/>
          </a:solidFill>
          <a:ln w="12700">
            <a:solidFill>
              <a:srgbClr val="2563EB"/>
            </a:solidFill>
            <a:prstDash val="solid"/>
          </a:ln>
        </p:spPr>
      </p:sp>
      <p:sp>
        <p:nvSpPr>
          <p:cNvPr id="8" name="Text 6"/>
          <p:cNvSpPr txBox="1"/>
          <p:nvPr/>
        </p:nvSpPr>
        <p:spPr>
          <a:xfrm>
            <a:off x="59436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594360" y="2194560"/>
            <a:ext cx="1691640" cy="502920"/>
          </a:xfrm>
          <a:prstGeom prst="rect">
            <a:avLst/>
          </a:prstGeom>
          <a:noFill/>
          <a:ln/>
        </p:spPr>
        <p:txBody>
          <a:bodyPr wrap="square" lIns="0" tIns="0" rIns="0" bIns="0" rtlCol="0" anchor="t"/>
          <a:lstStyle/>
          <a:p>
            <a:pPr indent="0" marL="0">
              <a:buNone/>
            </a:pPr>
            <a:r>
              <a:rPr lang="en-US" sz="1500" b="1" dirty="0">
                <a:solidFill>
                  <a:srgbClr val="0F172A"/>
                </a:solidFill>
                <a:latin typeface="Cambria" pitchFamily="34" charset="0"/>
                <a:ea typeface="Cambria" pitchFamily="34" charset="-122"/>
                <a:cs typeface="Cambria" pitchFamily="34" charset="-120"/>
              </a:rPr>
              <a:t>System Administrator</a:t>
            </a:r>
            <a:endParaRPr lang="en-US" sz="1500" dirty="0"/>
          </a:p>
        </p:txBody>
      </p:sp>
      <p:sp>
        <p:nvSpPr>
          <p:cNvPr id="10" name="Text 8"/>
          <p:cNvSpPr txBox="1"/>
          <p:nvPr/>
        </p:nvSpPr>
        <p:spPr>
          <a:xfrm>
            <a:off x="594360" y="2697480"/>
            <a:ext cx="1691640" cy="228600"/>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ROLE_ADMIN</a:t>
            </a:r>
            <a:endParaRPr lang="en-US" sz="1000" dirty="0"/>
          </a:p>
        </p:txBody>
      </p:sp>
      <p:sp>
        <p:nvSpPr>
          <p:cNvPr id="11" name="Text 9"/>
          <p:cNvSpPr txBox="1"/>
          <p:nvPr/>
        </p:nvSpPr>
        <p:spPr>
          <a:xfrm>
            <a:off x="594360" y="2944368"/>
            <a:ext cx="1691640" cy="2286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Lands on: /dashboard</a:t>
            </a:r>
            <a:endParaRPr lang="en-US" sz="950" dirty="0"/>
          </a:p>
        </p:txBody>
      </p:sp>
      <p:sp>
        <p:nvSpPr>
          <p:cNvPr id="12" name="Text 10"/>
          <p:cNvSpPr txBox="1"/>
          <p:nvPr/>
        </p:nvSpPr>
        <p:spPr>
          <a:xfrm>
            <a:off x="594360" y="3218688"/>
            <a:ext cx="1691640" cy="105156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Full access: products, inventory, orders, fulfillment, suppliers, POs, reports and user management (suspend / activate).</a:t>
            </a:r>
            <a:endParaRPr lang="en-US" sz="1050" dirty="0"/>
          </a:p>
        </p:txBody>
      </p:sp>
      <p:sp>
        <p:nvSpPr>
          <p:cNvPr id="13" name="Shape 11"/>
          <p:cNvSpPr/>
          <p:nvPr/>
        </p:nvSpPr>
        <p:spPr>
          <a:xfrm>
            <a:off x="2532888" y="1463040"/>
            <a:ext cx="1938528" cy="2880360"/>
          </a:xfrm>
          <a:prstGeom prst="roundRect">
            <a:avLst>
              <a:gd name="adj" fmla="val 377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4" name="Shape 12"/>
          <p:cNvSpPr/>
          <p:nvPr/>
        </p:nvSpPr>
        <p:spPr>
          <a:xfrm>
            <a:off x="2670048" y="1627632"/>
            <a:ext cx="457200" cy="457200"/>
          </a:xfrm>
          <a:prstGeom prst="ellipse">
            <a:avLst/>
          </a:prstGeom>
          <a:solidFill>
            <a:srgbClr val="059669"/>
          </a:solidFill>
          <a:ln w="12700">
            <a:solidFill>
              <a:srgbClr val="059669"/>
            </a:solidFill>
            <a:prstDash val="solid"/>
          </a:ln>
        </p:spPr>
      </p:sp>
      <p:sp>
        <p:nvSpPr>
          <p:cNvPr id="15" name="Text 13"/>
          <p:cNvSpPr txBox="1"/>
          <p:nvPr/>
        </p:nvSpPr>
        <p:spPr>
          <a:xfrm>
            <a:off x="2670048"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6" name="Text 14"/>
          <p:cNvSpPr txBox="1"/>
          <p:nvPr/>
        </p:nvSpPr>
        <p:spPr>
          <a:xfrm>
            <a:off x="2670048" y="2194560"/>
            <a:ext cx="1691640" cy="502920"/>
          </a:xfrm>
          <a:prstGeom prst="rect">
            <a:avLst/>
          </a:prstGeom>
          <a:noFill/>
          <a:ln/>
        </p:spPr>
        <p:txBody>
          <a:bodyPr wrap="square" lIns="0" tIns="0" rIns="0" bIns="0" rtlCol="0" anchor="t"/>
          <a:lstStyle/>
          <a:p>
            <a:pPr indent="0" marL="0">
              <a:buNone/>
            </a:pPr>
            <a:r>
              <a:rPr lang="en-US" sz="1500" b="1" dirty="0">
                <a:solidFill>
                  <a:srgbClr val="0F172A"/>
                </a:solidFill>
                <a:latin typeface="Cambria" pitchFamily="34" charset="0"/>
                <a:ea typeface="Cambria" pitchFamily="34" charset="-122"/>
                <a:cs typeface="Cambria" pitchFamily="34" charset="-120"/>
              </a:rPr>
              <a:t>Supplier</a:t>
            </a:r>
            <a:endParaRPr lang="en-US" sz="1500" dirty="0"/>
          </a:p>
        </p:txBody>
      </p:sp>
      <p:sp>
        <p:nvSpPr>
          <p:cNvPr id="17" name="Text 15"/>
          <p:cNvSpPr txBox="1"/>
          <p:nvPr/>
        </p:nvSpPr>
        <p:spPr>
          <a:xfrm>
            <a:off x="2670048" y="2697480"/>
            <a:ext cx="1691640" cy="228600"/>
          </a:xfrm>
          <a:prstGeom prst="rect">
            <a:avLst/>
          </a:prstGeom>
          <a:noFill/>
          <a:ln/>
        </p:spPr>
        <p:txBody>
          <a:bodyPr wrap="square" lIns="0" tIns="0" rIns="0" bIns="0" rtlCol="0" anchor="ctr"/>
          <a:lstStyle/>
          <a:p>
            <a:pPr indent="0" marL="0">
              <a:buNone/>
            </a:pPr>
            <a:r>
              <a:rPr lang="en-US" sz="1000" b="1" dirty="0">
                <a:solidFill>
                  <a:srgbClr val="059669"/>
                </a:solidFill>
                <a:latin typeface="Courier New" pitchFamily="34" charset="0"/>
                <a:ea typeface="Courier New" pitchFamily="34" charset="-122"/>
                <a:cs typeface="Courier New" pitchFamily="34" charset="-120"/>
              </a:rPr>
              <a:t>ROLE_SUPPLIER</a:t>
            </a:r>
            <a:endParaRPr lang="en-US" sz="1000" dirty="0"/>
          </a:p>
        </p:txBody>
      </p:sp>
      <p:sp>
        <p:nvSpPr>
          <p:cNvPr id="18" name="Text 16"/>
          <p:cNvSpPr txBox="1"/>
          <p:nvPr/>
        </p:nvSpPr>
        <p:spPr>
          <a:xfrm>
            <a:off x="2670048" y="2944368"/>
            <a:ext cx="1691640" cy="2286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Lands on: /supplier/dashboard</a:t>
            </a:r>
            <a:endParaRPr lang="en-US" sz="950" dirty="0"/>
          </a:p>
        </p:txBody>
      </p:sp>
      <p:sp>
        <p:nvSpPr>
          <p:cNvPr id="19" name="Text 17"/>
          <p:cNvSpPr txBox="1"/>
          <p:nvPr/>
        </p:nvSpPr>
        <p:spPr>
          <a:xfrm>
            <a:off x="2670048" y="3218688"/>
            <a:ext cx="1691640" cy="105156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Sees only purchase orders assigned to them; updates PO status and item details.</a:t>
            </a:r>
            <a:endParaRPr lang="en-US" sz="1050" dirty="0"/>
          </a:p>
        </p:txBody>
      </p:sp>
      <p:sp>
        <p:nvSpPr>
          <p:cNvPr id="20" name="Shape 18"/>
          <p:cNvSpPr/>
          <p:nvPr/>
        </p:nvSpPr>
        <p:spPr>
          <a:xfrm>
            <a:off x="4608576" y="1463040"/>
            <a:ext cx="1938528" cy="2880360"/>
          </a:xfrm>
          <a:prstGeom prst="roundRect">
            <a:avLst>
              <a:gd name="adj" fmla="val 377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1" name="Shape 19"/>
          <p:cNvSpPr/>
          <p:nvPr/>
        </p:nvSpPr>
        <p:spPr>
          <a:xfrm>
            <a:off x="4745736" y="1627632"/>
            <a:ext cx="457200" cy="457200"/>
          </a:xfrm>
          <a:prstGeom prst="ellipse">
            <a:avLst/>
          </a:prstGeom>
          <a:solidFill>
            <a:srgbClr val="D97706"/>
          </a:solidFill>
          <a:ln w="12700">
            <a:solidFill>
              <a:srgbClr val="D97706"/>
            </a:solidFill>
            <a:prstDash val="solid"/>
          </a:ln>
        </p:spPr>
      </p:sp>
      <p:sp>
        <p:nvSpPr>
          <p:cNvPr id="22" name="Text 20"/>
          <p:cNvSpPr txBox="1"/>
          <p:nvPr/>
        </p:nvSpPr>
        <p:spPr>
          <a:xfrm>
            <a:off x="4745736"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3" name="Text 21"/>
          <p:cNvSpPr txBox="1"/>
          <p:nvPr/>
        </p:nvSpPr>
        <p:spPr>
          <a:xfrm>
            <a:off x="4745736" y="2194560"/>
            <a:ext cx="1691640" cy="502920"/>
          </a:xfrm>
          <a:prstGeom prst="rect">
            <a:avLst/>
          </a:prstGeom>
          <a:noFill/>
          <a:ln/>
        </p:spPr>
        <p:txBody>
          <a:bodyPr wrap="square" lIns="0" tIns="0" rIns="0" bIns="0" rtlCol="0" anchor="t"/>
          <a:lstStyle/>
          <a:p>
            <a:pPr indent="0" marL="0">
              <a:buNone/>
            </a:pPr>
            <a:r>
              <a:rPr lang="en-US" sz="1500" b="1" dirty="0">
                <a:solidFill>
                  <a:srgbClr val="0F172A"/>
                </a:solidFill>
                <a:latin typeface="Cambria" pitchFamily="34" charset="0"/>
                <a:ea typeface="Cambria" pitchFamily="34" charset="-122"/>
                <a:cs typeface="Cambria" pitchFamily="34" charset="-120"/>
              </a:rPr>
              <a:t>Customer</a:t>
            </a:r>
            <a:endParaRPr lang="en-US" sz="1500" dirty="0"/>
          </a:p>
        </p:txBody>
      </p:sp>
      <p:sp>
        <p:nvSpPr>
          <p:cNvPr id="24" name="Text 22"/>
          <p:cNvSpPr txBox="1"/>
          <p:nvPr/>
        </p:nvSpPr>
        <p:spPr>
          <a:xfrm>
            <a:off x="4745736" y="2697480"/>
            <a:ext cx="1691640" cy="228600"/>
          </a:xfrm>
          <a:prstGeom prst="rect">
            <a:avLst/>
          </a:prstGeom>
          <a:noFill/>
          <a:ln/>
        </p:spPr>
        <p:txBody>
          <a:bodyPr wrap="square" lIns="0" tIns="0" rIns="0" bIns="0" rtlCol="0" anchor="ctr"/>
          <a:lstStyle/>
          <a:p>
            <a:pPr indent="0" marL="0">
              <a:buNone/>
            </a:pPr>
            <a:r>
              <a:rPr lang="en-US" sz="1000" b="1" dirty="0">
                <a:solidFill>
                  <a:srgbClr val="D97706"/>
                </a:solidFill>
                <a:latin typeface="Courier New" pitchFamily="34" charset="0"/>
                <a:ea typeface="Courier New" pitchFamily="34" charset="-122"/>
                <a:cs typeface="Courier New" pitchFamily="34" charset="-120"/>
              </a:rPr>
              <a:t>ROLE_CUSTOMER</a:t>
            </a:r>
            <a:endParaRPr lang="en-US" sz="1000" dirty="0"/>
          </a:p>
        </p:txBody>
      </p:sp>
      <p:sp>
        <p:nvSpPr>
          <p:cNvPr id="25" name="Text 23"/>
          <p:cNvSpPr txBox="1"/>
          <p:nvPr/>
        </p:nvSpPr>
        <p:spPr>
          <a:xfrm>
            <a:off x="4745736" y="2944368"/>
            <a:ext cx="1691640" cy="2286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Lands on: /customers/portal</a:t>
            </a:r>
            <a:endParaRPr lang="en-US" sz="950" dirty="0"/>
          </a:p>
        </p:txBody>
      </p:sp>
      <p:sp>
        <p:nvSpPr>
          <p:cNvPr id="26" name="Text 24"/>
          <p:cNvSpPr txBox="1"/>
          <p:nvPr/>
        </p:nvSpPr>
        <p:spPr>
          <a:xfrm>
            <a:off x="4745736" y="3218688"/>
            <a:ext cx="1691640" cy="105156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Browses the catalog, adds to cart, places orders and tracks own order history.</a:t>
            </a:r>
            <a:endParaRPr lang="en-US" sz="1050" dirty="0"/>
          </a:p>
        </p:txBody>
      </p:sp>
      <p:sp>
        <p:nvSpPr>
          <p:cNvPr id="27" name="Shape 25"/>
          <p:cNvSpPr/>
          <p:nvPr/>
        </p:nvSpPr>
        <p:spPr>
          <a:xfrm>
            <a:off x="6684264" y="1463040"/>
            <a:ext cx="1938528" cy="2880360"/>
          </a:xfrm>
          <a:prstGeom prst="roundRect">
            <a:avLst>
              <a:gd name="adj" fmla="val 377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8" name="Shape 26"/>
          <p:cNvSpPr/>
          <p:nvPr/>
        </p:nvSpPr>
        <p:spPr>
          <a:xfrm>
            <a:off x="6821424" y="1627632"/>
            <a:ext cx="457200" cy="457200"/>
          </a:xfrm>
          <a:prstGeom prst="ellipse">
            <a:avLst/>
          </a:prstGeom>
          <a:solidFill>
            <a:srgbClr val="64748B"/>
          </a:solidFill>
          <a:ln w="12700">
            <a:solidFill>
              <a:srgbClr val="64748B"/>
            </a:solidFill>
            <a:prstDash val="solid"/>
          </a:ln>
        </p:spPr>
      </p:sp>
      <p:sp>
        <p:nvSpPr>
          <p:cNvPr id="29" name="Text 27"/>
          <p:cNvSpPr txBox="1"/>
          <p:nvPr/>
        </p:nvSpPr>
        <p:spPr>
          <a:xfrm>
            <a:off x="6821424"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0" name="Text 28"/>
          <p:cNvSpPr txBox="1"/>
          <p:nvPr/>
        </p:nvSpPr>
        <p:spPr>
          <a:xfrm>
            <a:off x="6821424" y="2194560"/>
            <a:ext cx="1691640" cy="502920"/>
          </a:xfrm>
          <a:prstGeom prst="rect">
            <a:avLst/>
          </a:prstGeom>
          <a:noFill/>
          <a:ln/>
        </p:spPr>
        <p:txBody>
          <a:bodyPr wrap="square" lIns="0" tIns="0" rIns="0" bIns="0" rtlCol="0" anchor="t"/>
          <a:lstStyle/>
          <a:p>
            <a:pPr indent="0" marL="0">
              <a:buNone/>
            </a:pPr>
            <a:r>
              <a:rPr lang="en-US" sz="1500" b="1" dirty="0">
                <a:solidFill>
                  <a:srgbClr val="0F172A"/>
                </a:solidFill>
                <a:latin typeface="Cambria" pitchFamily="34" charset="0"/>
                <a:ea typeface="Cambria" pitchFamily="34" charset="-122"/>
                <a:cs typeface="Cambria" pitchFamily="34" charset="-120"/>
              </a:rPr>
              <a:t>Registered User</a:t>
            </a:r>
            <a:endParaRPr lang="en-US" sz="1500" dirty="0"/>
          </a:p>
        </p:txBody>
      </p:sp>
      <p:sp>
        <p:nvSpPr>
          <p:cNvPr id="31" name="Text 29"/>
          <p:cNvSpPr txBox="1"/>
          <p:nvPr/>
        </p:nvSpPr>
        <p:spPr>
          <a:xfrm>
            <a:off x="6821424" y="2697480"/>
            <a:ext cx="1691640" cy="228600"/>
          </a:xfrm>
          <a:prstGeom prst="rect">
            <a:avLst/>
          </a:prstGeom>
          <a:noFill/>
          <a:ln/>
        </p:spPr>
        <p:txBody>
          <a:bodyPr wrap="square" lIns="0" tIns="0" rIns="0" bIns="0" rtlCol="0" anchor="ctr"/>
          <a:lstStyle/>
          <a:p>
            <a:pPr indent="0" marL="0">
              <a:buNone/>
            </a:pPr>
            <a:r>
              <a:rPr lang="en-US" sz="1000" b="1" dirty="0">
                <a:solidFill>
                  <a:srgbClr val="64748B"/>
                </a:solidFill>
                <a:latin typeface="Courier New" pitchFamily="34" charset="0"/>
                <a:ea typeface="Courier New" pitchFamily="34" charset="-122"/>
                <a:cs typeface="Courier New" pitchFamily="34" charset="-120"/>
              </a:rPr>
              <a:t>ROLE_USER</a:t>
            </a:r>
            <a:endParaRPr lang="en-US" sz="1000" dirty="0"/>
          </a:p>
        </p:txBody>
      </p:sp>
      <p:sp>
        <p:nvSpPr>
          <p:cNvPr id="32" name="Text 30"/>
          <p:cNvSpPr txBox="1"/>
          <p:nvPr/>
        </p:nvSpPr>
        <p:spPr>
          <a:xfrm>
            <a:off x="6821424" y="2944368"/>
            <a:ext cx="1691640" cy="22860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Lands on: Profile</a:t>
            </a:r>
            <a:endParaRPr lang="en-US" sz="950" dirty="0"/>
          </a:p>
        </p:txBody>
      </p:sp>
      <p:sp>
        <p:nvSpPr>
          <p:cNvPr id="33" name="Text 31"/>
          <p:cNvSpPr txBox="1"/>
          <p:nvPr/>
        </p:nvSpPr>
        <p:spPr>
          <a:xfrm>
            <a:off x="6821424" y="3218688"/>
            <a:ext cx="1691640" cy="1051560"/>
          </a:xfrm>
          <a:prstGeom prst="rect">
            <a:avLst/>
          </a:prstGeom>
          <a:noFill/>
          <a:ln/>
        </p:spPr>
        <p:txBody>
          <a:bodyPr wrap="square" lIns="0" tIns="0" rIns="0" bIns="0" rtlCol="0" anchor="t"/>
          <a:lstStyle/>
          <a:p>
            <a:pPr indent="0" marL="0">
              <a:buNone/>
            </a:pPr>
            <a:r>
              <a:rPr lang="en-US" sz="1050" dirty="0">
                <a:solidFill>
                  <a:srgbClr val="1E293B"/>
                </a:solidFill>
                <a:latin typeface="Calibri" pitchFamily="34" charset="0"/>
                <a:ea typeface="Calibri" pitchFamily="34" charset="-122"/>
                <a:cs typeface="Calibri" pitchFamily="34" charset="-120"/>
              </a:rPr>
              <a:t>Base role of every account: authenticated profile management and catalog access.</a:t>
            </a:r>
            <a:endParaRPr lang="en-US" sz="1050" dirty="0"/>
          </a:p>
        </p:txBody>
      </p:sp>
      <p:sp>
        <p:nvSpPr>
          <p:cNvPr id="34" name="Text 32"/>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Guest / Visitor: </a:t>
            </a:r>
            <a:pPr indent="0" marL="0">
              <a:buNone/>
            </a:pPr>
            <a:r>
              <a:rPr lang="en-US" sz="1100" dirty="0">
                <a:solidFill>
                  <a:srgbClr val="1E293B"/>
                </a:solidFill>
                <a:latin typeface="Calibri" pitchFamily="34" charset="0"/>
                <a:ea typeface="Calibri" pitchFamily="34" charset="-122"/>
                <a:cs typeface="Calibri" pitchFamily="34" charset="-120"/>
              </a:rPr>
              <a:t>can only reach login and registration. Every other page and API needs a valid JWT (24-hour expiry).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6</a:t>
            </a:r>
            <a:endParaRPr lang="en-US" sz="850" dirty="0"/>
          </a:p>
        </p:txBody>
      </p:sp>
      <p:sp>
        <p:nvSpPr>
          <p:cNvPr id="4" name="Text 2"/>
          <p:cNvSpPr txBox="1"/>
          <p:nvPr/>
        </p:nvSpPr>
        <p:spPr>
          <a:xfrm>
            <a:off x="457200" y="365760"/>
            <a:ext cx="7315200" cy="54864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The 11 Modules at a Glance</a:t>
            </a:r>
            <a:endParaRPr lang="en-US" sz="3200" dirty="0"/>
          </a:p>
        </p:txBody>
      </p:sp>
      <p:sp>
        <p:nvSpPr>
          <p:cNvPr id="5" name="Shape 3"/>
          <p:cNvSpPr/>
          <p:nvPr/>
        </p:nvSpPr>
        <p:spPr>
          <a:xfrm>
            <a:off x="457200" y="1188720"/>
            <a:ext cx="1938528" cy="1024128"/>
          </a:xfrm>
          <a:prstGeom prst="roundRect">
            <a:avLst>
              <a:gd name="adj" fmla="val 714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6" name="Text 4"/>
          <p:cNvSpPr txBox="1"/>
          <p:nvPr/>
        </p:nvSpPr>
        <p:spPr>
          <a:xfrm>
            <a:off x="566928" y="1316736"/>
            <a:ext cx="347472" cy="347472"/>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5"/>
          <p:cNvSpPr txBox="1"/>
          <p:nvPr/>
        </p:nvSpPr>
        <p:spPr>
          <a:xfrm>
            <a:off x="987552" y="1280160"/>
            <a:ext cx="1325880" cy="411480"/>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Authentication</a:t>
            </a:r>
            <a:endParaRPr lang="en-US" sz="1250" dirty="0"/>
          </a:p>
        </p:txBody>
      </p:sp>
      <p:sp>
        <p:nvSpPr>
          <p:cNvPr id="8" name="Text 6"/>
          <p:cNvSpPr txBox="1"/>
          <p:nvPr/>
        </p:nvSpPr>
        <p:spPr>
          <a:xfrm>
            <a:off x="594360" y="1783080"/>
            <a:ext cx="1691640" cy="32004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Register, JWT login, roles</a:t>
            </a:r>
            <a:endParaRPr lang="en-US" sz="1050" dirty="0"/>
          </a:p>
        </p:txBody>
      </p:sp>
      <p:sp>
        <p:nvSpPr>
          <p:cNvPr id="9" name="Shape 7"/>
          <p:cNvSpPr/>
          <p:nvPr/>
        </p:nvSpPr>
        <p:spPr>
          <a:xfrm>
            <a:off x="2532888" y="1188720"/>
            <a:ext cx="1938528" cy="1024128"/>
          </a:xfrm>
          <a:prstGeom prst="roundRect">
            <a:avLst>
              <a:gd name="adj" fmla="val 714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0" name="Text 8"/>
          <p:cNvSpPr txBox="1"/>
          <p:nvPr/>
        </p:nvSpPr>
        <p:spPr>
          <a:xfrm>
            <a:off x="2642616" y="1316736"/>
            <a:ext cx="347472" cy="347472"/>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1" name="Text 9"/>
          <p:cNvSpPr txBox="1"/>
          <p:nvPr/>
        </p:nvSpPr>
        <p:spPr>
          <a:xfrm>
            <a:off x="3063240" y="1280160"/>
            <a:ext cx="1325880" cy="411480"/>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Dashboard</a:t>
            </a:r>
            <a:endParaRPr lang="en-US" sz="1250" dirty="0"/>
          </a:p>
        </p:txBody>
      </p:sp>
      <p:sp>
        <p:nvSpPr>
          <p:cNvPr id="12" name="Text 10"/>
          <p:cNvSpPr txBox="1"/>
          <p:nvPr/>
        </p:nvSpPr>
        <p:spPr>
          <a:xfrm>
            <a:off x="2670048" y="1783080"/>
            <a:ext cx="1691640" cy="32004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KPI cards and charts</a:t>
            </a:r>
            <a:endParaRPr lang="en-US" sz="1050" dirty="0"/>
          </a:p>
        </p:txBody>
      </p:sp>
      <p:sp>
        <p:nvSpPr>
          <p:cNvPr id="13" name="Shape 11"/>
          <p:cNvSpPr/>
          <p:nvPr/>
        </p:nvSpPr>
        <p:spPr>
          <a:xfrm>
            <a:off x="4608576" y="1188720"/>
            <a:ext cx="1938528" cy="1024128"/>
          </a:xfrm>
          <a:prstGeom prst="roundRect">
            <a:avLst>
              <a:gd name="adj" fmla="val 714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4" name="Text 12"/>
          <p:cNvSpPr txBox="1"/>
          <p:nvPr/>
        </p:nvSpPr>
        <p:spPr>
          <a:xfrm>
            <a:off x="4718304" y="1316736"/>
            <a:ext cx="347472" cy="347472"/>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5" name="Text 13"/>
          <p:cNvSpPr txBox="1"/>
          <p:nvPr/>
        </p:nvSpPr>
        <p:spPr>
          <a:xfrm>
            <a:off x="5138928" y="1280160"/>
            <a:ext cx="1325880" cy="411480"/>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Product Catalog</a:t>
            </a:r>
            <a:endParaRPr lang="en-US" sz="1250" dirty="0"/>
          </a:p>
        </p:txBody>
      </p:sp>
      <p:sp>
        <p:nvSpPr>
          <p:cNvPr id="16" name="Text 14"/>
          <p:cNvSpPr txBox="1"/>
          <p:nvPr/>
        </p:nvSpPr>
        <p:spPr>
          <a:xfrm>
            <a:off x="4745736" y="1783080"/>
            <a:ext cx="1691640" cy="32004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SKU, category, search</a:t>
            </a:r>
            <a:endParaRPr lang="en-US" sz="1050" dirty="0"/>
          </a:p>
        </p:txBody>
      </p:sp>
      <p:sp>
        <p:nvSpPr>
          <p:cNvPr id="17" name="Shape 15"/>
          <p:cNvSpPr/>
          <p:nvPr/>
        </p:nvSpPr>
        <p:spPr>
          <a:xfrm>
            <a:off x="6684264" y="1188720"/>
            <a:ext cx="1938528" cy="1024128"/>
          </a:xfrm>
          <a:prstGeom prst="roundRect">
            <a:avLst>
              <a:gd name="adj" fmla="val 714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8" name="Text 16"/>
          <p:cNvSpPr txBox="1"/>
          <p:nvPr/>
        </p:nvSpPr>
        <p:spPr>
          <a:xfrm>
            <a:off x="6793992" y="1316736"/>
            <a:ext cx="347472" cy="347472"/>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9" name="Text 17"/>
          <p:cNvSpPr txBox="1"/>
          <p:nvPr/>
        </p:nvSpPr>
        <p:spPr>
          <a:xfrm>
            <a:off x="7214616" y="1280160"/>
            <a:ext cx="1325880" cy="411480"/>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Inventory</a:t>
            </a:r>
            <a:endParaRPr lang="en-US" sz="1250" dirty="0"/>
          </a:p>
        </p:txBody>
      </p:sp>
      <p:sp>
        <p:nvSpPr>
          <p:cNvPr id="20" name="Text 18"/>
          <p:cNvSpPr txBox="1"/>
          <p:nvPr/>
        </p:nvSpPr>
        <p:spPr>
          <a:xfrm>
            <a:off x="6821424" y="1783080"/>
            <a:ext cx="1691640" cy="32004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Stock per warehouse</a:t>
            </a:r>
            <a:endParaRPr lang="en-US" sz="1050" dirty="0"/>
          </a:p>
        </p:txBody>
      </p:sp>
      <p:sp>
        <p:nvSpPr>
          <p:cNvPr id="21" name="Shape 19"/>
          <p:cNvSpPr/>
          <p:nvPr/>
        </p:nvSpPr>
        <p:spPr>
          <a:xfrm>
            <a:off x="457200" y="2359152"/>
            <a:ext cx="1938528" cy="1024128"/>
          </a:xfrm>
          <a:prstGeom prst="roundRect">
            <a:avLst>
              <a:gd name="adj" fmla="val 714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2" name="Text 20"/>
          <p:cNvSpPr txBox="1"/>
          <p:nvPr/>
        </p:nvSpPr>
        <p:spPr>
          <a:xfrm>
            <a:off x="566928" y="2487168"/>
            <a:ext cx="347472" cy="347472"/>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3" name="Text 21"/>
          <p:cNvSpPr txBox="1"/>
          <p:nvPr/>
        </p:nvSpPr>
        <p:spPr>
          <a:xfrm>
            <a:off x="987552" y="2450592"/>
            <a:ext cx="1325880" cy="411480"/>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Orders</a:t>
            </a:r>
            <a:endParaRPr lang="en-US" sz="1250" dirty="0"/>
          </a:p>
        </p:txBody>
      </p:sp>
      <p:sp>
        <p:nvSpPr>
          <p:cNvPr id="24" name="Text 22"/>
          <p:cNvSpPr txBox="1"/>
          <p:nvPr/>
        </p:nvSpPr>
        <p:spPr>
          <a:xfrm>
            <a:off x="594360" y="2953512"/>
            <a:ext cx="1691640" cy="32004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Cart, reservation, alerts</a:t>
            </a:r>
            <a:endParaRPr lang="en-US" sz="1050" dirty="0"/>
          </a:p>
        </p:txBody>
      </p:sp>
      <p:sp>
        <p:nvSpPr>
          <p:cNvPr id="25" name="Shape 23"/>
          <p:cNvSpPr/>
          <p:nvPr/>
        </p:nvSpPr>
        <p:spPr>
          <a:xfrm>
            <a:off x="2532888" y="2359152"/>
            <a:ext cx="1938528" cy="1024128"/>
          </a:xfrm>
          <a:prstGeom prst="roundRect">
            <a:avLst>
              <a:gd name="adj" fmla="val 714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6" name="Text 24"/>
          <p:cNvSpPr txBox="1"/>
          <p:nvPr/>
        </p:nvSpPr>
        <p:spPr>
          <a:xfrm>
            <a:off x="2642616" y="2487168"/>
            <a:ext cx="347472" cy="347472"/>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27" name="Text 25"/>
          <p:cNvSpPr txBox="1"/>
          <p:nvPr/>
        </p:nvSpPr>
        <p:spPr>
          <a:xfrm>
            <a:off x="3063240" y="2450592"/>
            <a:ext cx="1325880" cy="411480"/>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Fulfillment</a:t>
            </a:r>
            <a:endParaRPr lang="en-US" sz="1250" dirty="0"/>
          </a:p>
        </p:txBody>
      </p:sp>
      <p:sp>
        <p:nvSpPr>
          <p:cNvPr id="28" name="Text 26"/>
          <p:cNvSpPr txBox="1"/>
          <p:nvPr/>
        </p:nvSpPr>
        <p:spPr>
          <a:xfrm>
            <a:off x="2670048" y="2953512"/>
            <a:ext cx="1691640" cy="32004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Pending to delivered</a:t>
            </a:r>
            <a:endParaRPr lang="en-US" sz="1050" dirty="0"/>
          </a:p>
        </p:txBody>
      </p:sp>
      <p:sp>
        <p:nvSpPr>
          <p:cNvPr id="29" name="Shape 27"/>
          <p:cNvSpPr/>
          <p:nvPr/>
        </p:nvSpPr>
        <p:spPr>
          <a:xfrm>
            <a:off x="4608576" y="2359152"/>
            <a:ext cx="1938528" cy="1024128"/>
          </a:xfrm>
          <a:prstGeom prst="roundRect">
            <a:avLst>
              <a:gd name="adj" fmla="val 714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30" name="Text 28"/>
          <p:cNvSpPr txBox="1"/>
          <p:nvPr/>
        </p:nvSpPr>
        <p:spPr>
          <a:xfrm>
            <a:off x="4718304" y="2487168"/>
            <a:ext cx="347472" cy="347472"/>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7</a:t>
            </a:r>
            <a:endParaRPr lang="en-US" sz="1200" dirty="0"/>
          </a:p>
        </p:txBody>
      </p:sp>
      <p:sp>
        <p:nvSpPr>
          <p:cNvPr id="31" name="Text 29"/>
          <p:cNvSpPr txBox="1"/>
          <p:nvPr/>
        </p:nvSpPr>
        <p:spPr>
          <a:xfrm>
            <a:off x="5138928" y="2450592"/>
            <a:ext cx="1325880" cy="411480"/>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Suppliers &amp; POs</a:t>
            </a:r>
            <a:endParaRPr lang="en-US" sz="1250" dirty="0"/>
          </a:p>
        </p:txBody>
      </p:sp>
      <p:sp>
        <p:nvSpPr>
          <p:cNvPr id="32" name="Text 30"/>
          <p:cNvSpPr txBox="1"/>
          <p:nvPr/>
        </p:nvSpPr>
        <p:spPr>
          <a:xfrm>
            <a:off x="4745736" y="2953512"/>
            <a:ext cx="1691640" cy="32004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Vendors, replenishment</a:t>
            </a:r>
            <a:endParaRPr lang="en-US" sz="1050" dirty="0"/>
          </a:p>
        </p:txBody>
      </p:sp>
      <p:sp>
        <p:nvSpPr>
          <p:cNvPr id="33" name="Shape 31"/>
          <p:cNvSpPr/>
          <p:nvPr/>
        </p:nvSpPr>
        <p:spPr>
          <a:xfrm>
            <a:off x="6684264" y="2359152"/>
            <a:ext cx="1938528" cy="1024128"/>
          </a:xfrm>
          <a:prstGeom prst="roundRect">
            <a:avLst>
              <a:gd name="adj" fmla="val 714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34" name="Text 32"/>
          <p:cNvSpPr txBox="1"/>
          <p:nvPr/>
        </p:nvSpPr>
        <p:spPr>
          <a:xfrm>
            <a:off x="6793992" y="2487168"/>
            <a:ext cx="347472" cy="347472"/>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8</a:t>
            </a:r>
            <a:endParaRPr lang="en-US" sz="1200" dirty="0"/>
          </a:p>
        </p:txBody>
      </p:sp>
      <p:sp>
        <p:nvSpPr>
          <p:cNvPr id="35" name="Text 33"/>
          <p:cNvSpPr txBox="1"/>
          <p:nvPr/>
        </p:nvSpPr>
        <p:spPr>
          <a:xfrm>
            <a:off x="7214616" y="2450592"/>
            <a:ext cx="1325880" cy="411480"/>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Supplier Portal</a:t>
            </a:r>
            <a:endParaRPr lang="en-US" sz="1250" dirty="0"/>
          </a:p>
        </p:txBody>
      </p:sp>
      <p:sp>
        <p:nvSpPr>
          <p:cNvPr id="36" name="Text 34"/>
          <p:cNvSpPr txBox="1"/>
          <p:nvPr/>
        </p:nvSpPr>
        <p:spPr>
          <a:xfrm>
            <a:off x="6821424" y="2953512"/>
            <a:ext cx="1691640" cy="32004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Vendor self-service</a:t>
            </a:r>
            <a:endParaRPr lang="en-US" sz="1050" dirty="0"/>
          </a:p>
        </p:txBody>
      </p:sp>
      <p:sp>
        <p:nvSpPr>
          <p:cNvPr id="37" name="Shape 35"/>
          <p:cNvSpPr/>
          <p:nvPr/>
        </p:nvSpPr>
        <p:spPr>
          <a:xfrm>
            <a:off x="457200" y="3529584"/>
            <a:ext cx="1938528" cy="1024128"/>
          </a:xfrm>
          <a:prstGeom prst="roundRect">
            <a:avLst>
              <a:gd name="adj" fmla="val 714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38" name="Text 36"/>
          <p:cNvSpPr txBox="1"/>
          <p:nvPr/>
        </p:nvSpPr>
        <p:spPr>
          <a:xfrm>
            <a:off x="566928" y="3657600"/>
            <a:ext cx="347472" cy="347472"/>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9</a:t>
            </a:r>
            <a:endParaRPr lang="en-US" sz="1200" dirty="0"/>
          </a:p>
        </p:txBody>
      </p:sp>
      <p:sp>
        <p:nvSpPr>
          <p:cNvPr id="39" name="Text 37"/>
          <p:cNvSpPr txBox="1"/>
          <p:nvPr/>
        </p:nvSpPr>
        <p:spPr>
          <a:xfrm>
            <a:off x="987552" y="3621024"/>
            <a:ext cx="1325880" cy="411480"/>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Customer Portal</a:t>
            </a:r>
            <a:endParaRPr lang="en-US" sz="1250" dirty="0"/>
          </a:p>
        </p:txBody>
      </p:sp>
      <p:sp>
        <p:nvSpPr>
          <p:cNvPr id="40" name="Text 38"/>
          <p:cNvSpPr txBox="1"/>
          <p:nvPr/>
        </p:nvSpPr>
        <p:spPr>
          <a:xfrm>
            <a:off x="594360" y="4123944"/>
            <a:ext cx="1691640" cy="32004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Shop, cart, history</a:t>
            </a:r>
            <a:endParaRPr lang="en-US" sz="1050" dirty="0"/>
          </a:p>
        </p:txBody>
      </p:sp>
      <p:sp>
        <p:nvSpPr>
          <p:cNvPr id="41" name="Shape 39"/>
          <p:cNvSpPr/>
          <p:nvPr/>
        </p:nvSpPr>
        <p:spPr>
          <a:xfrm>
            <a:off x="2532888" y="3529584"/>
            <a:ext cx="1938528" cy="1024128"/>
          </a:xfrm>
          <a:prstGeom prst="roundRect">
            <a:avLst>
              <a:gd name="adj" fmla="val 714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42" name="Text 40"/>
          <p:cNvSpPr txBox="1"/>
          <p:nvPr/>
        </p:nvSpPr>
        <p:spPr>
          <a:xfrm>
            <a:off x="2642616" y="3657600"/>
            <a:ext cx="347472" cy="347472"/>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10</a:t>
            </a:r>
            <a:endParaRPr lang="en-US" sz="1200" dirty="0"/>
          </a:p>
        </p:txBody>
      </p:sp>
      <p:sp>
        <p:nvSpPr>
          <p:cNvPr id="43" name="Text 41"/>
          <p:cNvSpPr txBox="1"/>
          <p:nvPr/>
        </p:nvSpPr>
        <p:spPr>
          <a:xfrm>
            <a:off x="3063240" y="3621024"/>
            <a:ext cx="1325880" cy="411480"/>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Users &amp; Profile</a:t>
            </a:r>
            <a:endParaRPr lang="en-US" sz="1250" dirty="0"/>
          </a:p>
        </p:txBody>
      </p:sp>
      <p:sp>
        <p:nvSpPr>
          <p:cNvPr id="44" name="Text 42"/>
          <p:cNvSpPr txBox="1"/>
          <p:nvPr/>
        </p:nvSpPr>
        <p:spPr>
          <a:xfrm>
            <a:off x="2670048" y="4123944"/>
            <a:ext cx="1691640" cy="32004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Accounts, suspend, profile</a:t>
            </a:r>
            <a:endParaRPr lang="en-US" sz="1050" dirty="0"/>
          </a:p>
        </p:txBody>
      </p:sp>
      <p:sp>
        <p:nvSpPr>
          <p:cNvPr id="45" name="Shape 43"/>
          <p:cNvSpPr/>
          <p:nvPr/>
        </p:nvSpPr>
        <p:spPr>
          <a:xfrm>
            <a:off x="4608576" y="3529584"/>
            <a:ext cx="1938528" cy="1024128"/>
          </a:xfrm>
          <a:prstGeom prst="roundRect">
            <a:avLst>
              <a:gd name="adj" fmla="val 714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46" name="Text 44"/>
          <p:cNvSpPr txBox="1"/>
          <p:nvPr/>
        </p:nvSpPr>
        <p:spPr>
          <a:xfrm>
            <a:off x="4718304" y="3657600"/>
            <a:ext cx="347472" cy="347472"/>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11</a:t>
            </a:r>
            <a:endParaRPr lang="en-US" sz="1200" dirty="0"/>
          </a:p>
        </p:txBody>
      </p:sp>
      <p:sp>
        <p:nvSpPr>
          <p:cNvPr id="47" name="Text 45"/>
          <p:cNvSpPr txBox="1"/>
          <p:nvPr/>
        </p:nvSpPr>
        <p:spPr>
          <a:xfrm>
            <a:off x="5138928" y="3621024"/>
            <a:ext cx="1325880" cy="411480"/>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Reports &amp; Alerts</a:t>
            </a:r>
            <a:endParaRPr lang="en-US" sz="1250" dirty="0"/>
          </a:p>
        </p:txBody>
      </p:sp>
      <p:sp>
        <p:nvSpPr>
          <p:cNvPr id="48" name="Text 46"/>
          <p:cNvSpPr txBox="1"/>
          <p:nvPr/>
        </p:nvSpPr>
        <p:spPr>
          <a:xfrm>
            <a:off x="4745736" y="4123944"/>
            <a:ext cx="1691640" cy="32004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CSV export, notifications</a:t>
            </a:r>
            <a:endParaRPr lang="en-US" sz="1050" dirty="0"/>
          </a:p>
        </p:txBody>
      </p:sp>
      <p:sp>
        <p:nvSpPr>
          <p:cNvPr id="49" name="Shape 47"/>
          <p:cNvSpPr/>
          <p:nvPr/>
        </p:nvSpPr>
        <p:spPr>
          <a:xfrm>
            <a:off x="6684264" y="3529584"/>
            <a:ext cx="1938528" cy="1024128"/>
          </a:xfrm>
          <a:prstGeom prst="roundRect">
            <a:avLst>
              <a:gd name="adj" fmla="val 714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50" name="Text 48"/>
          <p:cNvSpPr txBox="1"/>
          <p:nvPr/>
        </p:nvSpPr>
        <p:spPr>
          <a:xfrm>
            <a:off x="6793992" y="3657600"/>
            <a:ext cx="347472" cy="347472"/>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t>
            </a:r>
            <a:endParaRPr lang="en-US" sz="1200" dirty="0"/>
          </a:p>
        </p:txBody>
      </p:sp>
      <p:sp>
        <p:nvSpPr>
          <p:cNvPr id="51" name="Text 49"/>
          <p:cNvSpPr txBox="1"/>
          <p:nvPr/>
        </p:nvSpPr>
        <p:spPr>
          <a:xfrm>
            <a:off x="7214616" y="3621024"/>
            <a:ext cx="1325880" cy="411480"/>
          </a:xfrm>
          <a:prstGeom prst="rect">
            <a:avLst/>
          </a:prstGeom>
          <a:noFill/>
          <a:ln/>
        </p:spPr>
        <p:txBody>
          <a:bodyPr wrap="square" lIns="0" tIns="0" rIns="0" bIns="0" rtlCol="0" anchor="ctr"/>
          <a:lstStyle/>
          <a:p>
            <a:pPr indent="0" marL="0">
              <a:buNone/>
            </a:pPr>
            <a:r>
              <a:rPr lang="en-US" sz="1250" b="1" dirty="0">
                <a:solidFill>
                  <a:srgbClr val="0F172A"/>
                </a:solidFill>
                <a:latin typeface="Cambria" pitchFamily="34" charset="0"/>
                <a:ea typeface="Cambria" pitchFamily="34" charset="-122"/>
                <a:cs typeface="Cambria" pitchFamily="34" charset="-120"/>
              </a:rPr>
              <a:t>Testing</a:t>
            </a:r>
            <a:endParaRPr lang="en-US" sz="1250" dirty="0"/>
          </a:p>
        </p:txBody>
      </p:sp>
      <p:sp>
        <p:nvSpPr>
          <p:cNvPr id="52" name="Text 50"/>
          <p:cNvSpPr txBox="1"/>
          <p:nvPr/>
        </p:nvSpPr>
        <p:spPr>
          <a:xfrm>
            <a:off x="6821424" y="4123944"/>
            <a:ext cx="1691640" cy="320040"/>
          </a:xfrm>
          <a:prstGeom prst="rect">
            <a:avLst/>
          </a:prstGeom>
          <a:noFill/>
          <a:ln/>
        </p:spPr>
        <p:txBody>
          <a:bodyPr wrap="square" lIns="0" tIns="0" rIns="0" bIns="0" rtlCol="0" anchor="t"/>
          <a:lstStyle/>
          <a:p>
            <a:pPr indent="0" marL="0">
              <a:buNone/>
            </a:pPr>
            <a:r>
              <a:rPr lang="en-US" sz="1050" dirty="0">
                <a:solidFill>
                  <a:srgbClr val="64748B"/>
                </a:solidFill>
                <a:latin typeface="Calibri" pitchFamily="34" charset="0"/>
                <a:ea typeface="Calibri" pitchFamily="34" charset="-122"/>
                <a:cs typeface="Calibri" pitchFamily="34" charset="-120"/>
              </a:rPr>
              <a:t>48 functional test cases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7</a:t>
            </a:r>
            <a:endParaRPr lang="en-US" sz="850" dirty="0"/>
          </a:p>
        </p:txBody>
      </p:sp>
      <p:sp>
        <p:nvSpPr>
          <p:cNvPr id="4" name="Shape 2"/>
          <p:cNvSpPr/>
          <p:nvPr/>
        </p:nvSpPr>
        <p:spPr>
          <a:xfrm>
            <a:off x="457200" y="384048"/>
            <a:ext cx="1143000" cy="256032"/>
          </a:xfrm>
          <a:prstGeom prst="roundRect">
            <a:avLst>
              <a:gd name="adj" fmla="val 50000"/>
            </a:avLst>
          </a:prstGeom>
          <a:solidFill>
            <a:srgbClr val="DBEAFE"/>
          </a:solidFill>
          <a:ln w="12700">
            <a:solidFill>
              <a:srgbClr val="DBEAFE"/>
            </a:solidFill>
            <a:prstDash val="solid"/>
          </a:ln>
        </p:spPr>
      </p:sp>
      <p:sp>
        <p:nvSpPr>
          <p:cNvPr id="5" name="Text 3"/>
          <p:cNvSpPr txBox="1"/>
          <p:nvPr/>
        </p:nvSpPr>
        <p:spPr>
          <a:xfrm>
            <a:off x="457200" y="384048"/>
            <a:ext cx="1143000" cy="256032"/>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MODULE 01</a:t>
            </a:r>
            <a:endParaRPr lang="en-US" sz="950" dirty="0"/>
          </a:p>
        </p:txBody>
      </p:sp>
      <p:sp>
        <p:nvSpPr>
          <p:cNvPr id="6" name="Text 4"/>
          <p:cNvSpPr txBox="1"/>
          <p:nvPr/>
        </p:nvSpPr>
        <p:spPr>
          <a:xfrm>
            <a:off x="457200" y="749808"/>
            <a:ext cx="2926080" cy="868680"/>
          </a:xfrm>
          <a:prstGeom prst="rect">
            <a:avLst/>
          </a:prstGeom>
          <a:noFill/>
          <a:ln/>
        </p:spPr>
        <p:txBody>
          <a:bodyPr wrap="square" lIns="0" tIns="0" rIns="0" bIns="0" rtlCol="0" anchor="t"/>
          <a:lstStyle/>
          <a:p>
            <a:pPr indent="0" marL="0">
              <a:buNone/>
            </a:pPr>
            <a:r>
              <a:rPr lang="en-US" sz="2400" b="1" dirty="0">
                <a:solidFill>
                  <a:srgbClr val="0F172A"/>
                </a:solidFill>
                <a:latin typeface="Cambria" pitchFamily="34" charset="0"/>
                <a:ea typeface="Cambria" pitchFamily="34" charset="-122"/>
                <a:cs typeface="Cambria" pitchFamily="34" charset="-120"/>
              </a:rPr>
              <a:t>Authentication &amp; Access</a:t>
            </a:r>
            <a:endParaRPr lang="en-US" sz="2400" dirty="0"/>
          </a:p>
        </p:txBody>
      </p:sp>
      <p:sp>
        <p:nvSpPr>
          <p:cNvPr id="7" name="Text 5"/>
          <p:cNvSpPr txBox="1"/>
          <p:nvPr/>
        </p:nvSpPr>
        <p:spPr>
          <a:xfrm>
            <a:off x="457200" y="1691640"/>
            <a:ext cx="2926080" cy="109728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Controls who may enter the system and what each user may do. The login page posts credentials to /api/auth/login; Spring Security checks the BCrypt hash and returns a JWT.</a:t>
            </a:r>
            <a:endParaRPr lang="en-US" sz="1150" dirty="0"/>
          </a:p>
        </p:txBody>
      </p:sp>
      <p:sp>
        <p:nvSpPr>
          <p:cNvPr id="8" name="Text 6"/>
          <p:cNvSpPr txBox="1"/>
          <p:nvPr/>
        </p:nvSpPr>
        <p:spPr>
          <a:xfrm>
            <a:off x="457200" y="2834640"/>
            <a:ext cx="2926080" cy="1874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Register as customer or supplier (FR-1.1)</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Login with clear error messages (FR-1.2)</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24-hour JWT as Bearer token (FR-1.3)</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Role-based redirect to the right portal (FR-1.4)</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Forgot password by e-mail; suspended accounts get HTTP 403</a:t>
            </a:r>
            <a:endParaRPr lang="en-US" sz="1050" dirty="0"/>
          </a:p>
        </p:txBody>
      </p:sp>
      <p:sp>
        <p:nvSpPr>
          <p:cNvPr id="9" name="Shape 7"/>
          <p:cNvSpPr/>
          <p:nvPr/>
        </p:nvSpPr>
        <p:spPr>
          <a:xfrm>
            <a:off x="3529584" y="374904"/>
            <a:ext cx="2747645" cy="1810512"/>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0" name="Image 0" descr="/mnt/user-data/uploads/1000262966.png">    </p:cNvPr>
          <p:cNvPicPr>
            <a:picLocks noChangeAspect="1"/>
          </p:cNvPicPr>
          <p:nvPr/>
        </p:nvPicPr>
        <p:blipFill>
          <a:blip r:embed="rId1"/>
          <a:stretch>
            <a:fillRect/>
          </a:stretch>
        </p:blipFill>
        <p:spPr>
          <a:xfrm>
            <a:off x="3566160" y="411480"/>
            <a:ext cx="2674493" cy="1737360"/>
          </a:xfrm>
          <a:prstGeom prst="rect">
            <a:avLst/>
          </a:prstGeom>
        </p:spPr>
      </p:pic>
      <p:sp>
        <p:nvSpPr>
          <p:cNvPr id="11" name="Text 8"/>
          <p:cNvSpPr txBox="1"/>
          <p:nvPr/>
        </p:nvSpPr>
        <p:spPr>
          <a:xfrm>
            <a:off x="3529584" y="2203704"/>
            <a:ext cx="2747645"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Sign-in page</a:t>
            </a:r>
            <a:endParaRPr lang="en-US" sz="900" dirty="0"/>
          </a:p>
        </p:txBody>
      </p:sp>
      <p:sp>
        <p:nvSpPr>
          <p:cNvPr id="12" name="Shape 9"/>
          <p:cNvSpPr/>
          <p:nvPr/>
        </p:nvSpPr>
        <p:spPr>
          <a:xfrm>
            <a:off x="6318504" y="374904"/>
            <a:ext cx="2404872" cy="1521854"/>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3" name="Image 1" descr="/mnt/user-data/uploads/1000262981.png">    </p:cNvPr>
          <p:cNvPicPr>
            <a:picLocks noChangeAspect="1"/>
          </p:cNvPicPr>
          <p:nvPr/>
        </p:nvPicPr>
        <p:blipFill>
          <a:blip r:embed="rId2"/>
          <a:stretch>
            <a:fillRect/>
          </a:stretch>
        </p:blipFill>
        <p:spPr>
          <a:xfrm>
            <a:off x="6355080" y="411480"/>
            <a:ext cx="2331720" cy="1448702"/>
          </a:xfrm>
          <a:prstGeom prst="rect">
            <a:avLst/>
          </a:prstGeom>
        </p:spPr>
      </p:pic>
      <p:sp>
        <p:nvSpPr>
          <p:cNvPr id="14" name="Text 10"/>
          <p:cNvSpPr txBox="1"/>
          <p:nvPr/>
        </p:nvSpPr>
        <p:spPr>
          <a:xfrm>
            <a:off x="6318504" y="1915046"/>
            <a:ext cx="240487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Registration: duplicate e-mail rejected</a:t>
            </a:r>
            <a:endParaRPr lang="en-US" sz="900" dirty="0"/>
          </a:p>
        </p:txBody>
      </p:sp>
      <p:sp>
        <p:nvSpPr>
          <p:cNvPr id="18" name="Shape 13"/>
          <p:cNvSpPr/>
          <p:nvPr/>
        </p:nvSpPr>
        <p:spPr>
          <a:xfrm>
            <a:off x="3529584" y="2788920"/>
            <a:ext cx="5193792" cy="1554480"/>
          </a:xfrm>
          <a:prstGeom prst="roundRect">
            <a:avLst>
              <a:gd name="adj" fmla="val 410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9" name="Text 14"/>
          <p:cNvSpPr txBox="1"/>
          <p:nvPr/>
        </p:nvSpPr>
        <p:spPr>
          <a:xfrm>
            <a:off x="3749040" y="2834640"/>
            <a:ext cx="4754880" cy="1463040"/>
          </a:xfrm>
          <a:prstGeom prst="rect">
            <a:avLst/>
          </a:prstGeom>
          <a:noFill/>
          <a:ln/>
        </p:spPr>
        <p:txBody>
          <a:bodyPr wrap="square" lIns="0" tIns="0" rIns="0" bIns="0"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Sign-up window</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Enter username, e-mail and password, then choose the account type: Customer or Supplier / Vendor. Duplicate usernames and e-mails are rejected, and the password is stored only as a BCrypt hash.</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8</a:t>
            </a:r>
            <a:endParaRPr lang="en-US" sz="850" dirty="0"/>
          </a:p>
        </p:txBody>
      </p:sp>
      <p:sp>
        <p:nvSpPr>
          <p:cNvPr id="4" name="Shape 2"/>
          <p:cNvSpPr/>
          <p:nvPr/>
        </p:nvSpPr>
        <p:spPr>
          <a:xfrm>
            <a:off x="457200" y="384048"/>
            <a:ext cx="1143000" cy="256032"/>
          </a:xfrm>
          <a:prstGeom prst="roundRect">
            <a:avLst>
              <a:gd name="adj" fmla="val 50000"/>
            </a:avLst>
          </a:prstGeom>
          <a:solidFill>
            <a:srgbClr val="DBEAFE"/>
          </a:solidFill>
          <a:ln w="12700">
            <a:solidFill>
              <a:srgbClr val="DBEAFE"/>
            </a:solidFill>
            <a:prstDash val="solid"/>
          </a:ln>
        </p:spPr>
      </p:sp>
      <p:sp>
        <p:nvSpPr>
          <p:cNvPr id="5" name="Text 3"/>
          <p:cNvSpPr txBox="1"/>
          <p:nvPr/>
        </p:nvSpPr>
        <p:spPr>
          <a:xfrm>
            <a:off x="457200" y="384048"/>
            <a:ext cx="1143000" cy="256032"/>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MODULE 02</a:t>
            </a:r>
            <a:endParaRPr lang="en-US" sz="950" dirty="0"/>
          </a:p>
        </p:txBody>
      </p:sp>
      <p:sp>
        <p:nvSpPr>
          <p:cNvPr id="6" name="Text 4"/>
          <p:cNvSpPr txBox="1"/>
          <p:nvPr/>
        </p:nvSpPr>
        <p:spPr>
          <a:xfrm>
            <a:off x="457200" y="749808"/>
            <a:ext cx="2926080" cy="868680"/>
          </a:xfrm>
          <a:prstGeom prst="rect">
            <a:avLst/>
          </a:prstGeom>
          <a:noFill/>
          <a:ln/>
        </p:spPr>
        <p:txBody>
          <a:bodyPr wrap="square" lIns="0" tIns="0" rIns="0" bIns="0" rtlCol="0" anchor="t"/>
          <a:lstStyle/>
          <a:p>
            <a:pPr indent="0" marL="0">
              <a:buNone/>
            </a:pPr>
            <a:r>
              <a:rPr lang="en-US" sz="2400" b="1" dirty="0">
                <a:solidFill>
                  <a:srgbClr val="0F172A"/>
                </a:solidFill>
                <a:latin typeface="Cambria" pitchFamily="34" charset="0"/>
                <a:ea typeface="Cambria" pitchFamily="34" charset="-122"/>
                <a:cs typeface="Cambria" pitchFamily="34" charset="-120"/>
              </a:rPr>
              <a:t>Dashboard</a:t>
            </a:r>
            <a:endParaRPr lang="en-US" sz="2400" dirty="0"/>
          </a:p>
        </p:txBody>
      </p:sp>
      <p:sp>
        <p:nvSpPr>
          <p:cNvPr id="7" name="Text 5"/>
          <p:cNvSpPr txBox="1"/>
          <p:nvPr/>
        </p:nvSpPr>
        <p:spPr>
          <a:xfrm>
            <a:off x="457200" y="1691640"/>
            <a:ext cx="2926080" cy="109728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Gives administrators a quick summary of business activity on login. It reads inventory, order and purchase data from the REST APIs and shows summary cards and Recharts charts.</a:t>
            </a:r>
            <a:endParaRPr lang="en-US" sz="1150" dirty="0"/>
          </a:p>
        </p:txBody>
      </p:sp>
      <p:sp>
        <p:nvSpPr>
          <p:cNvPr id="8" name="Text 6"/>
          <p:cNvSpPr txBox="1"/>
          <p:nvPr/>
        </p:nvSpPr>
        <p:spPr>
          <a:xfrm>
            <a:off x="457200" y="2834640"/>
            <a:ext cx="2926080" cy="1874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Summary metric cards for stock, orders, suppliers (FR-2.1)</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Stock Flow chart: sales out vs stock in (FR-2.2)</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Low-stock alert count at a glance</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Quick actions: receive PO, fulfill order, audit suppliers</a:t>
            </a:r>
            <a:endParaRPr lang="en-US" sz="1050" dirty="0"/>
          </a:p>
        </p:txBody>
      </p:sp>
      <p:sp>
        <p:nvSpPr>
          <p:cNvPr id="9" name="Shape 7"/>
          <p:cNvSpPr/>
          <p:nvPr/>
        </p:nvSpPr>
        <p:spPr>
          <a:xfrm>
            <a:off x="3529584" y="420624"/>
            <a:ext cx="5193792" cy="2843378"/>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0" name="Image 0" descr="/mnt/user-data/uploads/1000262969.png">    </p:cNvPr>
          <p:cNvPicPr>
            <a:picLocks noChangeAspect="1"/>
          </p:cNvPicPr>
          <p:nvPr/>
        </p:nvPicPr>
        <p:blipFill>
          <a:blip r:embed="rId1"/>
          <a:stretch>
            <a:fillRect/>
          </a:stretch>
        </p:blipFill>
        <p:spPr>
          <a:xfrm>
            <a:off x="3566160" y="457200"/>
            <a:ext cx="5120640" cy="2770226"/>
          </a:xfrm>
          <a:prstGeom prst="rect">
            <a:avLst/>
          </a:prstGeom>
        </p:spPr>
      </p:pic>
      <p:sp>
        <p:nvSpPr>
          <p:cNvPr id="11" name="Text 8"/>
          <p:cNvSpPr txBox="1"/>
          <p:nvPr/>
        </p:nvSpPr>
        <p:spPr>
          <a:xfrm>
            <a:off x="3529584" y="3282290"/>
            <a:ext cx="519379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Manager Portal Overview</a:t>
            </a:r>
            <a:endParaRPr lang="en-US" sz="900" dirty="0"/>
          </a:p>
        </p:txBody>
      </p:sp>
      <p:sp>
        <p:nvSpPr>
          <p:cNvPr id="12" name="Shape 9"/>
          <p:cNvSpPr/>
          <p:nvPr/>
        </p:nvSpPr>
        <p:spPr>
          <a:xfrm>
            <a:off x="3566160" y="3611880"/>
            <a:ext cx="1207008" cy="868680"/>
          </a:xfrm>
          <a:prstGeom prst="roundRect">
            <a:avLst>
              <a:gd name="adj" fmla="val 8421"/>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3" name="Text 10"/>
          <p:cNvSpPr txBox="1"/>
          <p:nvPr/>
        </p:nvSpPr>
        <p:spPr>
          <a:xfrm>
            <a:off x="3566160" y="3657600"/>
            <a:ext cx="1207008" cy="411480"/>
          </a:xfrm>
          <a:prstGeom prst="rect">
            <a:avLst/>
          </a:prstGeom>
          <a:noFill/>
          <a:ln/>
        </p:spPr>
        <p:txBody>
          <a:bodyPr wrap="square" lIns="0" tIns="0" rIns="0" bIns="0" rtlCol="0" anchor="ctr"/>
          <a:lstStyle/>
          <a:p>
            <a:pPr algn="ctr" indent="0" marL="0">
              <a:buNone/>
            </a:pPr>
            <a:r>
              <a:rPr lang="en-US" sz="1800" b="1" dirty="0">
                <a:solidFill>
                  <a:srgbClr val="2563EB"/>
                </a:solidFill>
                <a:latin typeface="Cambria" pitchFamily="34" charset="0"/>
                <a:ea typeface="Cambria" pitchFamily="34" charset="-122"/>
                <a:cs typeface="Cambria" pitchFamily="34" charset="-120"/>
              </a:rPr>
              <a:t>692,490</a:t>
            </a:r>
            <a:endParaRPr lang="en-US" sz="1800" dirty="0"/>
          </a:p>
        </p:txBody>
      </p:sp>
      <p:sp>
        <p:nvSpPr>
          <p:cNvPr id="14" name="Text 11"/>
          <p:cNvSpPr txBox="1"/>
          <p:nvPr/>
        </p:nvSpPr>
        <p:spPr>
          <a:xfrm>
            <a:off x="3611880" y="4069080"/>
            <a:ext cx="1115568" cy="320040"/>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Active inventory units</a:t>
            </a:r>
            <a:endParaRPr lang="en-US" sz="900" dirty="0"/>
          </a:p>
        </p:txBody>
      </p:sp>
      <p:sp>
        <p:nvSpPr>
          <p:cNvPr id="15" name="Shape 12"/>
          <p:cNvSpPr/>
          <p:nvPr/>
        </p:nvSpPr>
        <p:spPr>
          <a:xfrm>
            <a:off x="4864608" y="3611880"/>
            <a:ext cx="1207008" cy="868680"/>
          </a:xfrm>
          <a:prstGeom prst="roundRect">
            <a:avLst>
              <a:gd name="adj" fmla="val 8421"/>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6" name="Text 13"/>
          <p:cNvSpPr txBox="1"/>
          <p:nvPr/>
        </p:nvSpPr>
        <p:spPr>
          <a:xfrm>
            <a:off x="4864608" y="3657600"/>
            <a:ext cx="1207008" cy="411480"/>
          </a:xfrm>
          <a:prstGeom prst="rect">
            <a:avLst/>
          </a:prstGeom>
          <a:noFill/>
          <a:ln/>
        </p:spPr>
        <p:txBody>
          <a:bodyPr wrap="square" lIns="0" tIns="0" rIns="0" bIns="0" rtlCol="0" anchor="ctr"/>
          <a:lstStyle/>
          <a:p>
            <a:pPr algn="ctr" indent="0" marL="0">
              <a:buNone/>
            </a:pPr>
            <a:r>
              <a:rPr lang="en-US" sz="1800" b="1" dirty="0">
                <a:solidFill>
                  <a:srgbClr val="2563EB"/>
                </a:solidFill>
                <a:latin typeface="Cambria" pitchFamily="34" charset="0"/>
                <a:ea typeface="Cambria" pitchFamily="34" charset="-122"/>
                <a:cs typeface="Cambria" pitchFamily="34" charset="-120"/>
              </a:rPr>
              <a:t>14</a:t>
            </a:r>
            <a:endParaRPr lang="en-US" sz="1800" dirty="0"/>
          </a:p>
        </p:txBody>
      </p:sp>
      <p:sp>
        <p:nvSpPr>
          <p:cNvPr id="17" name="Text 14"/>
          <p:cNvSpPr txBox="1"/>
          <p:nvPr/>
        </p:nvSpPr>
        <p:spPr>
          <a:xfrm>
            <a:off x="4910328" y="4069080"/>
            <a:ext cx="1115568" cy="320040"/>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Low-stock alerts</a:t>
            </a:r>
            <a:endParaRPr lang="en-US" sz="900" dirty="0"/>
          </a:p>
        </p:txBody>
      </p:sp>
      <p:sp>
        <p:nvSpPr>
          <p:cNvPr id="18" name="Shape 15"/>
          <p:cNvSpPr/>
          <p:nvPr/>
        </p:nvSpPr>
        <p:spPr>
          <a:xfrm>
            <a:off x="6163056" y="3611880"/>
            <a:ext cx="1207008" cy="868680"/>
          </a:xfrm>
          <a:prstGeom prst="roundRect">
            <a:avLst>
              <a:gd name="adj" fmla="val 8421"/>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9" name="Text 16"/>
          <p:cNvSpPr txBox="1"/>
          <p:nvPr/>
        </p:nvSpPr>
        <p:spPr>
          <a:xfrm>
            <a:off x="6163056" y="3657600"/>
            <a:ext cx="1207008" cy="411480"/>
          </a:xfrm>
          <a:prstGeom prst="rect">
            <a:avLst/>
          </a:prstGeom>
          <a:noFill/>
          <a:ln/>
        </p:spPr>
        <p:txBody>
          <a:bodyPr wrap="square" lIns="0" tIns="0" rIns="0" bIns="0" rtlCol="0" anchor="ctr"/>
          <a:lstStyle/>
          <a:p>
            <a:pPr algn="ctr" indent="0" marL="0">
              <a:buNone/>
            </a:pPr>
            <a:r>
              <a:rPr lang="en-US" sz="1800" b="1" dirty="0">
                <a:solidFill>
                  <a:srgbClr val="2563EB"/>
                </a:solidFill>
                <a:latin typeface="Cambria" pitchFamily="34" charset="0"/>
                <a:ea typeface="Cambria" pitchFamily="34" charset="-122"/>
                <a:cs typeface="Cambria" pitchFamily="34" charset="-120"/>
              </a:rPr>
              <a:t>3</a:t>
            </a:r>
            <a:endParaRPr lang="en-US" sz="1800" dirty="0"/>
          </a:p>
        </p:txBody>
      </p:sp>
      <p:sp>
        <p:nvSpPr>
          <p:cNvPr id="20" name="Text 17"/>
          <p:cNvSpPr txBox="1"/>
          <p:nvPr/>
        </p:nvSpPr>
        <p:spPr>
          <a:xfrm>
            <a:off x="6208776" y="4069080"/>
            <a:ext cx="1115568" cy="320040"/>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Total suppliers</a:t>
            </a:r>
            <a:endParaRPr lang="en-US" sz="900" dirty="0"/>
          </a:p>
        </p:txBody>
      </p:sp>
      <p:sp>
        <p:nvSpPr>
          <p:cNvPr id="21" name="Shape 18"/>
          <p:cNvSpPr/>
          <p:nvPr/>
        </p:nvSpPr>
        <p:spPr>
          <a:xfrm>
            <a:off x="7461504" y="3611880"/>
            <a:ext cx="1207008" cy="868680"/>
          </a:xfrm>
          <a:prstGeom prst="roundRect">
            <a:avLst>
              <a:gd name="adj" fmla="val 8421"/>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2" name="Text 19"/>
          <p:cNvSpPr txBox="1"/>
          <p:nvPr/>
        </p:nvSpPr>
        <p:spPr>
          <a:xfrm>
            <a:off x="7461504" y="3657600"/>
            <a:ext cx="1207008" cy="411480"/>
          </a:xfrm>
          <a:prstGeom prst="rect">
            <a:avLst/>
          </a:prstGeom>
          <a:noFill/>
          <a:ln/>
        </p:spPr>
        <p:txBody>
          <a:bodyPr wrap="square" lIns="0" tIns="0" rIns="0" bIns="0" rtlCol="0" anchor="ctr"/>
          <a:lstStyle/>
          <a:p>
            <a:pPr algn="ctr" indent="0" marL="0">
              <a:buNone/>
            </a:pPr>
            <a:r>
              <a:rPr lang="en-US" sz="1800" b="1" dirty="0">
                <a:solidFill>
                  <a:srgbClr val="2563EB"/>
                </a:solidFill>
                <a:latin typeface="Cambria" pitchFamily="34" charset="0"/>
                <a:ea typeface="Cambria" pitchFamily="34" charset="-122"/>
                <a:cs typeface="Cambria" pitchFamily="34" charset="-120"/>
              </a:rPr>
              <a:t>11</a:t>
            </a:r>
            <a:endParaRPr lang="en-US" sz="1800" dirty="0"/>
          </a:p>
        </p:txBody>
      </p:sp>
      <p:sp>
        <p:nvSpPr>
          <p:cNvPr id="23" name="Text 20"/>
          <p:cNvSpPr txBox="1"/>
          <p:nvPr/>
        </p:nvSpPr>
        <p:spPr>
          <a:xfrm>
            <a:off x="7507224" y="4069080"/>
            <a:ext cx="1115568" cy="320040"/>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Customer orders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9</a:t>
            </a:r>
            <a:endParaRPr lang="en-US" sz="850" dirty="0"/>
          </a:p>
        </p:txBody>
      </p:sp>
      <p:sp>
        <p:nvSpPr>
          <p:cNvPr id="4" name="Shape 2"/>
          <p:cNvSpPr/>
          <p:nvPr/>
        </p:nvSpPr>
        <p:spPr>
          <a:xfrm>
            <a:off x="457200" y="384048"/>
            <a:ext cx="1143000" cy="256032"/>
          </a:xfrm>
          <a:prstGeom prst="roundRect">
            <a:avLst>
              <a:gd name="adj" fmla="val 50000"/>
            </a:avLst>
          </a:prstGeom>
          <a:solidFill>
            <a:srgbClr val="DBEAFE"/>
          </a:solidFill>
          <a:ln w="12700">
            <a:solidFill>
              <a:srgbClr val="DBEAFE"/>
            </a:solidFill>
            <a:prstDash val="solid"/>
          </a:ln>
        </p:spPr>
      </p:sp>
      <p:sp>
        <p:nvSpPr>
          <p:cNvPr id="5" name="Text 3"/>
          <p:cNvSpPr txBox="1"/>
          <p:nvPr/>
        </p:nvSpPr>
        <p:spPr>
          <a:xfrm>
            <a:off x="457200" y="384048"/>
            <a:ext cx="1143000" cy="256032"/>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MODULE 03</a:t>
            </a:r>
            <a:endParaRPr lang="en-US" sz="950" dirty="0"/>
          </a:p>
        </p:txBody>
      </p:sp>
      <p:sp>
        <p:nvSpPr>
          <p:cNvPr id="6" name="Text 4"/>
          <p:cNvSpPr txBox="1"/>
          <p:nvPr/>
        </p:nvSpPr>
        <p:spPr>
          <a:xfrm>
            <a:off x="457200" y="749808"/>
            <a:ext cx="2926080" cy="868680"/>
          </a:xfrm>
          <a:prstGeom prst="rect">
            <a:avLst/>
          </a:prstGeom>
          <a:noFill/>
          <a:ln/>
        </p:spPr>
        <p:txBody>
          <a:bodyPr wrap="square" lIns="0" tIns="0" rIns="0" bIns="0" rtlCol="0" anchor="t"/>
          <a:lstStyle/>
          <a:p>
            <a:pPr indent="0" marL="0">
              <a:buNone/>
            </a:pPr>
            <a:r>
              <a:rPr lang="en-US" sz="2400" b="1" dirty="0">
                <a:solidFill>
                  <a:srgbClr val="0F172A"/>
                </a:solidFill>
                <a:latin typeface="Cambria" pitchFamily="34" charset="0"/>
                <a:ea typeface="Cambria" pitchFamily="34" charset="-122"/>
                <a:cs typeface="Cambria" pitchFamily="34" charset="-120"/>
              </a:rPr>
              <a:t>Product Catalog</a:t>
            </a:r>
            <a:endParaRPr lang="en-US" sz="2400" dirty="0"/>
          </a:p>
        </p:txBody>
      </p:sp>
      <p:sp>
        <p:nvSpPr>
          <p:cNvPr id="7" name="Text 5"/>
          <p:cNvSpPr txBox="1"/>
          <p:nvPr/>
        </p:nvSpPr>
        <p:spPr>
          <a:xfrm>
            <a:off x="457200" y="1691640"/>
            <a:ext cx="2926080" cy="109728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Maintains the master list of items the business sells. Every product has a unique SKU, name, category, description, cost and selling price, reorder level, status and image.</a:t>
            </a:r>
            <a:endParaRPr lang="en-US" sz="1150" dirty="0"/>
          </a:p>
        </p:txBody>
      </p:sp>
      <p:sp>
        <p:nvSpPr>
          <p:cNvPr id="8" name="Text 6"/>
          <p:cNvSpPr txBox="1"/>
          <p:nvPr/>
        </p:nvSpPr>
        <p:spPr>
          <a:xfrm>
            <a:off x="457200" y="2834640"/>
            <a:ext cx="2926080" cy="1874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Add, edit and deactivate products; SKU must be unique (FR-3.1)</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Category management (FR-3.2)</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Search by name / SKU and filter by category (FR-3.3)</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Reorder level drives low-stock alerts</a:t>
            </a:r>
            <a:endParaRPr lang="en-US" sz="1050" dirty="0"/>
          </a:p>
        </p:txBody>
      </p:sp>
      <p:sp>
        <p:nvSpPr>
          <p:cNvPr id="9" name="Shape 7"/>
          <p:cNvSpPr/>
          <p:nvPr/>
        </p:nvSpPr>
        <p:spPr>
          <a:xfrm>
            <a:off x="3529584" y="420624"/>
            <a:ext cx="5193792" cy="2674962"/>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0" name="Image 0" descr="/mnt/user-data/uploads/1000263023.png">    </p:cNvPr>
          <p:cNvPicPr>
            <a:picLocks noChangeAspect="1"/>
          </p:cNvPicPr>
          <p:nvPr/>
        </p:nvPicPr>
        <p:blipFill>
          <a:blip r:embed="rId1"/>
          <a:stretch>
            <a:fillRect/>
          </a:stretch>
        </p:blipFill>
        <p:spPr>
          <a:xfrm>
            <a:off x="3566160" y="457200"/>
            <a:ext cx="5120640" cy="2601810"/>
          </a:xfrm>
          <a:prstGeom prst="rect">
            <a:avLst/>
          </a:prstGeom>
        </p:spPr>
      </p:pic>
      <p:sp>
        <p:nvSpPr>
          <p:cNvPr id="11" name="Text 8"/>
          <p:cNvSpPr txBox="1"/>
          <p:nvPr/>
        </p:nvSpPr>
        <p:spPr>
          <a:xfrm>
            <a:off x="3529584" y="3113874"/>
            <a:ext cx="519379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Catalog as customers see it: prices, discounts and Add to Cart</a:t>
            </a:r>
            <a:endParaRPr lang="en-US" sz="900" dirty="0"/>
          </a:p>
        </p:txBody>
      </p:sp>
      <p:sp>
        <p:nvSpPr>
          <p:cNvPr id="12" name="Shape 9"/>
          <p:cNvSpPr/>
          <p:nvPr/>
        </p:nvSpPr>
        <p:spPr>
          <a:xfrm>
            <a:off x="3566160" y="3429000"/>
            <a:ext cx="5120640" cy="1005840"/>
          </a:xfrm>
          <a:prstGeom prst="roundRect">
            <a:avLst>
              <a:gd name="adj" fmla="val 727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3" name="Text 10"/>
          <p:cNvSpPr txBox="1"/>
          <p:nvPr/>
        </p:nvSpPr>
        <p:spPr>
          <a:xfrm>
            <a:off x="3703320" y="3429000"/>
            <a:ext cx="4846320" cy="1005840"/>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PRODUCT RECORD</a:t>
            </a:r>
            <a:endParaRPr lang="en-US" sz="950" dirty="0"/>
          </a:p>
          <a:p>
            <a:pPr indent="0" marL="0">
              <a:buNone/>
            </a:pPr>
            <a:r>
              <a:rPr lang="en-US" sz="1100" dirty="0">
                <a:solidFill>
                  <a:srgbClr val="1E293B"/>
                </a:solidFill>
                <a:latin typeface="Calibri" pitchFamily="34" charset="0"/>
                <a:ea typeface="Calibri" pitchFamily="34" charset="-122"/>
                <a:cs typeface="Calibri" pitchFamily="34" charset="-120"/>
              </a:rPr>
              <a:t>SKU  |  name  |  category  |  description  |  cost price  |  selling price  |  reorder level  |  status  |  image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10</a:t>
            </a:r>
            <a:endParaRPr lang="en-US" sz="850" dirty="0"/>
          </a:p>
        </p:txBody>
      </p:sp>
      <p:sp>
        <p:nvSpPr>
          <p:cNvPr id="4" name="Shape 2"/>
          <p:cNvSpPr/>
          <p:nvPr/>
        </p:nvSpPr>
        <p:spPr>
          <a:xfrm>
            <a:off x="457200" y="384048"/>
            <a:ext cx="1143000" cy="256032"/>
          </a:xfrm>
          <a:prstGeom prst="roundRect">
            <a:avLst>
              <a:gd name="adj" fmla="val 50000"/>
            </a:avLst>
          </a:prstGeom>
          <a:solidFill>
            <a:srgbClr val="DBEAFE"/>
          </a:solidFill>
          <a:ln w="12700">
            <a:solidFill>
              <a:srgbClr val="DBEAFE"/>
            </a:solidFill>
            <a:prstDash val="solid"/>
          </a:ln>
        </p:spPr>
      </p:sp>
      <p:sp>
        <p:nvSpPr>
          <p:cNvPr id="5" name="Text 3"/>
          <p:cNvSpPr txBox="1"/>
          <p:nvPr/>
        </p:nvSpPr>
        <p:spPr>
          <a:xfrm>
            <a:off x="457200" y="384048"/>
            <a:ext cx="1143000" cy="256032"/>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MODULE 04</a:t>
            </a:r>
            <a:endParaRPr lang="en-US" sz="950" dirty="0"/>
          </a:p>
        </p:txBody>
      </p:sp>
      <p:sp>
        <p:nvSpPr>
          <p:cNvPr id="6" name="Text 4"/>
          <p:cNvSpPr txBox="1"/>
          <p:nvPr/>
        </p:nvSpPr>
        <p:spPr>
          <a:xfrm>
            <a:off x="457200" y="749808"/>
            <a:ext cx="2926080" cy="868680"/>
          </a:xfrm>
          <a:prstGeom prst="rect">
            <a:avLst/>
          </a:prstGeom>
          <a:noFill/>
          <a:ln/>
        </p:spPr>
        <p:txBody>
          <a:bodyPr wrap="square" lIns="0" tIns="0" rIns="0" bIns="0" rtlCol="0" anchor="t"/>
          <a:lstStyle/>
          <a:p>
            <a:pPr indent="0" marL="0">
              <a:buNone/>
            </a:pPr>
            <a:r>
              <a:rPr lang="en-US" sz="2400" b="1" dirty="0">
                <a:solidFill>
                  <a:srgbClr val="0F172A"/>
                </a:solidFill>
                <a:latin typeface="Cambria" pitchFamily="34" charset="0"/>
                <a:ea typeface="Cambria" pitchFamily="34" charset="-122"/>
                <a:cs typeface="Cambria" pitchFamily="34" charset="-120"/>
              </a:rPr>
              <a:t>Inventory &amp; Warehouses</a:t>
            </a:r>
            <a:endParaRPr lang="en-US" sz="2400" dirty="0"/>
          </a:p>
        </p:txBody>
      </p:sp>
      <p:sp>
        <p:nvSpPr>
          <p:cNvPr id="7" name="Text 5"/>
          <p:cNvSpPr txBox="1"/>
          <p:nvPr/>
        </p:nvSpPr>
        <p:spPr>
          <a:xfrm>
            <a:off x="457200" y="1691640"/>
            <a:ext cx="2926080" cy="109728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Shows how much of each product is held in each warehouse, with total, reserved and available quantity. Saving a record re-checks stock and raises a low-stock alert below the reorder level.</a:t>
            </a:r>
            <a:endParaRPr lang="en-US" sz="1150" dirty="0"/>
          </a:p>
        </p:txBody>
      </p:sp>
      <p:sp>
        <p:nvSpPr>
          <p:cNvPr id="8" name="Text 6"/>
          <p:cNvSpPr txBox="1"/>
          <p:nvPr/>
        </p:nvSpPr>
        <p:spPr>
          <a:xfrm>
            <a:off x="457200" y="2834640"/>
            <a:ext cx="2926080" cy="1874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Warehouse-wise stock view (FR-4.1)</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Stock-in and adjustments; available quantity never negative (FR-4.2)</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Add warehouses with manager and capacity (FR-4.3)</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Stock transfer and transaction history (FR-4.4)</a:t>
            </a:r>
            <a:endParaRPr lang="en-US" sz="1050" dirty="0"/>
          </a:p>
        </p:txBody>
      </p:sp>
      <p:sp>
        <p:nvSpPr>
          <p:cNvPr id="9" name="Shape 7"/>
          <p:cNvSpPr/>
          <p:nvPr/>
        </p:nvSpPr>
        <p:spPr>
          <a:xfrm>
            <a:off x="3529584" y="374904"/>
            <a:ext cx="3056039" cy="1947672"/>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0" name="Image 0" descr="/mnt/user-data/uploads/1000263008.png">    </p:cNvPr>
          <p:cNvPicPr>
            <a:picLocks noChangeAspect="1"/>
          </p:cNvPicPr>
          <p:nvPr/>
        </p:nvPicPr>
        <p:blipFill>
          <a:blip r:embed="rId1"/>
          <a:stretch>
            <a:fillRect/>
          </a:stretch>
        </p:blipFill>
        <p:spPr>
          <a:xfrm>
            <a:off x="3566160" y="411480"/>
            <a:ext cx="2982887" cy="1874520"/>
          </a:xfrm>
          <a:prstGeom prst="rect">
            <a:avLst/>
          </a:prstGeom>
        </p:spPr>
      </p:pic>
      <p:sp>
        <p:nvSpPr>
          <p:cNvPr id="11" name="Text 8"/>
          <p:cNvSpPr txBox="1"/>
          <p:nvPr/>
        </p:nvSpPr>
        <p:spPr>
          <a:xfrm>
            <a:off x="3529584" y="2340864"/>
            <a:ext cx="3056039"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Stock Tracking: total, reserved, available</a:t>
            </a:r>
            <a:endParaRPr lang="en-US" sz="900" dirty="0"/>
          </a:p>
        </p:txBody>
      </p:sp>
      <p:sp>
        <p:nvSpPr>
          <p:cNvPr id="12" name="Shape 9"/>
          <p:cNvSpPr/>
          <p:nvPr/>
        </p:nvSpPr>
        <p:spPr>
          <a:xfrm>
            <a:off x="6649631" y="374904"/>
            <a:ext cx="1984588" cy="1947672"/>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3" name="Image 1" descr="/mnt/user-data/uploads/1000263002.png">    </p:cNvPr>
          <p:cNvPicPr>
            <a:picLocks noChangeAspect="1"/>
          </p:cNvPicPr>
          <p:nvPr/>
        </p:nvPicPr>
        <p:blipFill>
          <a:blip r:embed="rId2"/>
          <a:stretch>
            <a:fillRect/>
          </a:stretch>
        </p:blipFill>
        <p:spPr>
          <a:xfrm>
            <a:off x="6686207" y="411480"/>
            <a:ext cx="1911436" cy="1874520"/>
          </a:xfrm>
          <a:prstGeom prst="rect">
            <a:avLst/>
          </a:prstGeom>
        </p:spPr>
      </p:pic>
      <p:sp>
        <p:nvSpPr>
          <p:cNvPr id="14" name="Text 10"/>
          <p:cNvSpPr txBox="1"/>
          <p:nvPr/>
        </p:nvSpPr>
        <p:spPr>
          <a:xfrm>
            <a:off x="6649631" y="2340864"/>
            <a:ext cx="1984588"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Add New Warehouse</a:t>
            </a:r>
            <a:endParaRPr lang="en-US" sz="900" dirty="0"/>
          </a:p>
        </p:txBody>
      </p:sp>
      <p:sp>
        <p:nvSpPr>
          <p:cNvPr id="15" name="Shape 11"/>
          <p:cNvSpPr/>
          <p:nvPr/>
        </p:nvSpPr>
        <p:spPr>
          <a:xfrm>
            <a:off x="3529584" y="2798064"/>
            <a:ext cx="5193792" cy="1784560"/>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6" name="Image 2" descr="/mnt/user-data/uploads/1000263005.png">    </p:cNvPr>
          <p:cNvPicPr>
            <a:picLocks noChangeAspect="1"/>
          </p:cNvPicPr>
          <p:nvPr/>
        </p:nvPicPr>
        <p:blipFill>
          <a:blip r:embed="rId3"/>
          <a:stretch>
            <a:fillRect/>
          </a:stretch>
        </p:blipFill>
        <p:spPr>
          <a:xfrm>
            <a:off x="3566160" y="2834640"/>
            <a:ext cx="5120640" cy="1711408"/>
          </a:xfrm>
          <a:prstGeom prst="rect">
            <a:avLst/>
          </a:prstGeom>
        </p:spPr>
      </p:pic>
      <p:sp>
        <p:nvSpPr>
          <p:cNvPr id="17" name="Text 12"/>
          <p:cNvSpPr txBox="1"/>
          <p:nvPr/>
        </p:nvSpPr>
        <p:spPr>
          <a:xfrm>
            <a:off x="3529584" y="4600912"/>
            <a:ext cx="519379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Warehouses tab: Delhi, Mumbai and Kolkata hubs with capacity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11</a:t>
            </a:r>
            <a:endParaRPr lang="en-US" sz="850" dirty="0"/>
          </a:p>
        </p:txBody>
      </p:sp>
      <p:sp>
        <p:nvSpPr>
          <p:cNvPr id="4" name="Shape 2"/>
          <p:cNvSpPr/>
          <p:nvPr/>
        </p:nvSpPr>
        <p:spPr>
          <a:xfrm>
            <a:off x="457200" y="384048"/>
            <a:ext cx="1143000" cy="256032"/>
          </a:xfrm>
          <a:prstGeom prst="roundRect">
            <a:avLst>
              <a:gd name="adj" fmla="val 50000"/>
            </a:avLst>
          </a:prstGeom>
          <a:solidFill>
            <a:srgbClr val="DBEAFE"/>
          </a:solidFill>
          <a:ln w="12700">
            <a:solidFill>
              <a:srgbClr val="DBEAFE"/>
            </a:solidFill>
            <a:prstDash val="solid"/>
          </a:ln>
        </p:spPr>
      </p:sp>
      <p:sp>
        <p:nvSpPr>
          <p:cNvPr id="5" name="Text 3"/>
          <p:cNvSpPr txBox="1"/>
          <p:nvPr/>
        </p:nvSpPr>
        <p:spPr>
          <a:xfrm>
            <a:off x="457200" y="384048"/>
            <a:ext cx="1143000" cy="256032"/>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MODULE 05</a:t>
            </a:r>
            <a:endParaRPr lang="en-US" sz="950" dirty="0"/>
          </a:p>
        </p:txBody>
      </p:sp>
      <p:sp>
        <p:nvSpPr>
          <p:cNvPr id="6" name="Text 4"/>
          <p:cNvSpPr txBox="1"/>
          <p:nvPr/>
        </p:nvSpPr>
        <p:spPr>
          <a:xfrm>
            <a:off x="457200" y="749808"/>
            <a:ext cx="2926080" cy="868680"/>
          </a:xfrm>
          <a:prstGeom prst="rect">
            <a:avLst/>
          </a:prstGeom>
          <a:noFill/>
          <a:ln/>
        </p:spPr>
        <p:txBody>
          <a:bodyPr wrap="square" lIns="0" tIns="0" rIns="0" bIns="0" rtlCol="0" anchor="t"/>
          <a:lstStyle/>
          <a:p>
            <a:pPr indent="0" marL="0">
              <a:buNone/>
            </a:pPr>
            <a:r>
              <a:rPr lang="en-US" sz="2400" b="1" dirty="0">
                <a:solidFill>
                  <a:srgbClr val="0F172A"/>
                </a:solidFill>
                <a:latin typeface="Cambria" pitchFamily="34" charset="0"/>
                <a:ea typeface="Cambria" pitchFamily="34" charset="-122"/>
                <a:cs typeface="Cambria" pitchFamily="34" charset="-120"/>
              </a:rPr>
              <a:t>Orders</a:t>
            </a:r>
            <a:endParaRPr lang="en-US" sz="2400" dirty="0"/>
          </a:p>
        </p:txBody>
      </p:sp>
      <p:sp>
        <p:nvSpPr>
          <p:cNvPr id="7" name="Text 5"/>
          <p:cNvSpPr txBox="1"/>
          <p:nvPr/>
        </p:nvSpPr>
        <p:spPr>
          <a:xfrm>
            <a:off x="457200" y="1691640"/>
            <a:ext cx="2926080" cy="109728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Captures customer orders and commits stock correctly. On order creation the service reduces available quantity and increases reserved quantity across the warehouses holding the product.</a:t>
            </a:r>
            <a:endParaRPr lang="en-US" sz="1150" dirty="0"/>
          </a:p>
        </p:txBody>
      </p:sp>
      <p:sp>
        <p:nvSpPr>
          <p:cNvPr id="8" name="Text 6"/>
          <p:cNvSpPr txBox="1"/>
          <p:nvPr/>
        </p:nvSpPr>
        <p:spPr>
          <a:xfrm>
            <a:off x="457200" y="2834640"/>
            <a:ext cx="2926080" cy="1874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Create order with items, quantity and price (FR-5.1)</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Automatic stock reservation in one transaction (FR-5.2)</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Low-stock alert if available &lt; reorder level (FR-5.3)</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Order Placed / New Order notifications (FR-5.4)</a:t>
            </a:r>
            <a:endParaRPr lang="en-US" sz="1050" dirty="0"/>
          </a:p>
        </p:txBody>
      </p:sp>
      <p:sp>
        <p:nvSpPr>
          <p:cNvPr id="9" name="Shape 7"/>
          <p:cNvSpPr/>
          <p:nvPr/>
        </p:nvSpPr>
        <p:spPr>
          <a:xfrm>
            <a:off x="3529584" y="374904"/>
            <a:ext cx="3786243" cy="2816352"/>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0" name="Image 0" descr="/mnt/user-data/uploads/1000262999.png">    </p:cNvPr>
          <p:cNvPicPr>
            <a:picLocks noChangeAspect="1"/>
          </p:cNvPicPr>
          <p:nvPr/>
        </p:nvPicPr>
        <p:blipFill>
          <a:blip r:embed="rId1"/>
          <a:stretch>
            <a:fillRect/>
          </a:stretch>
        </p:blipFill>
        <p:spPr>
          <a:xfrm>
            <a:off x="3566160" y="411480"/>
            <a:ext cx="3713091" cy="2743200"/>
          </a:xfrm>
          <a:prstGeom prst="rect">
            <a:avLst/>
          </a:prstGeom>
        </p:spPr>
      </p:pic>
      <p:sp>
        <p:nvSpPr>
          <p:cNvPr id="11" name="Text 8"/>
          <p:cNvSpPr txBox="1"/>
          <p:nvPr/>
        </p:nvSpPr>
        <p:spPr>
          <a:xfrm>
            <a:off x="3529584" y="3209544"/>
            <a:ext cx="3786243"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Master Order Log (admin view of all orders)</a:t>
            </a:r>
            <a:endParaRPr lang="en-US" sz="900" dirty="0"/>
          </a:p>
        </p:txBody>
      </p:sp>
      <p:sp>
        <p:nvSpPr>
          <p:cNvPr id="12" name="Shape 9"/>
          <p:cNvSpPr/>
          <p:nvPr/>
        </p:nvSpPr>
        <p:spPr>
          <a:xfrm>
            <a:off x="3529584" y="3483864"/>
            <a:ext cx="1555647" cy="1170432"/>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3" name="Image 1" descr="/mnt/user-data/uploads/1000263020.png">    </p:cNvPr>
          <p:cNvPicPr>
            <a:picLocks noChangeAspect="1"/>
          </p:cNvPicPr>
          <p:nvPr/>
        </p:nvPicPr>
        <p:blipFill>
          <a:blip r:embed="rId2"/>
          <a:stretch>
            <a:fillRect/>
          </a:stretch>
        </p:blipFill>
        <p:spPr>
          <a:xfrm>
            <a:off x="3566160" y="3520440"/>
            <a:ext cx="1482495" cy="1097280"/>
          </a:xfrm>
          <a:prstGeom prst="rect">
            <a:avLst/>
          </a:prstGeom>
        </p:spPr>
      </p:pic>
      <p:sp>
        <p:nvSpPr>
          <p:cNvPr id="14" name="Text 10"/>
          <p:cNvSpPr txBox="1"/>
          <p:nvPr/>
        </p:nvSpPr>
        <p:spPr>
          <a:xfrm>
            <a:off x="3529584" y="4672584"/>
            <a:ext cx="1555647"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Shopping cart</a:t>
            </a:r>
            <a:endParaRPr lang="en-US" sz="900" dirty="0"/>
          </a:p>
        </p:txBody>
      </p:sp>
      <p:sp>
        <p:nvSpPr>
          <p:cNvPr id="15" name="Text 11"/>
          <p:cNvSpPr txBox="1"/>
          <p:nvPr/>
        </p:nvSpPr>
        <p:spPr>
          <a:xfrm>
            <a:off x="7498080" y="411480"/>
            <a:ext cx="1188720" cy="228600"/>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ORDER STATUS</a:t>
            </a:r>
            <a:endParaRPr lang="en-US" sz="950" dirty="0"/>
          </a:p>
        </p:txBody>
      </p:sp>
      <p:sp>
        <p:nvSpPr>
          <p:cNvPr id="16" name="Shape 12"/>
          <p:cNvSpPr/>
          <p:nvPr/>
        </p:nvSpPr>
        <p:spPr>
          <a:xfrm>
            <a:off x="7498080" y="731520"/>
            <a:ext cx="1188720" cy="292608"/>
          </a:xfrm>
          <a:prstGeom prst="roundRect">
            <a:avLst>
              <a:gd name="adj" fmla="val 50000"/>
            </a:avLst>
          </a:prstGeom>
          <a:solidFill>
            <a:srgbClr val="FFFFFF"/>
          </a:solidFill>
          <a:ln w="12700">
            <a:solidFill>
              <a:srgbClr val="2563EB"/>
            </a:solidFill>
            <a:prstDash val="solid"/>
          </a:ln>
        </p:spPr>
      </p:sp>
      <p:sp>
        <p:nvSpPr>
          <p:cNvPr id="17" name="Text 13"/>
          <p:cNvSpPr txBox="1"/>
          <p:nvPr/>
        </p:nvSpPr>
        <p:spPr>
          <a:xfrm>
            <a:off x="7498080" y="731520"/>
            <a:ext cx="1188720" cy="292608"/>
          </a:xfrm>
          <a:prstGeom prst="rect">
            <a:avLst/>
          </a:prstGeom>
          <a:noFill/>
          <a:ln/>
        </p:spPr>
        <p:txBody>
          <a:bodyPr wrap="square" lIns="0" tIns="0" rIns="0" bIns="0" rtlCol="0" anchor="ctr"/>
          <a:lstStyle/>
          <a:p>
            <a:pPr algn="ctr" indent="0" marL="0">
              <a:buNone/>
            </a:pPr>
            <a:r>
              <a:rPr lang="en-US" sz="850" b="1" dirty="0">
                <a:solidFill>
                  <a:srgbClr val="2563EB"/>
                </a:solidFill>
                <a:latin typeface="Calibri" pitchFamily="34" charset="0"/>
                <a:ea typeface="Calibri" pitchFamily="34" charset="-122"/>
                <a:cs typeface="Calibri" pitchFamily="34" charset="-120"/>
              </a:rPr>
              <a:t>PENDING</a:t>
            </a:r>
            <a:endParaRPr lang="en-US" sz="850" dirty="0"/>
          </a:p>
        </p:txBody>
      </p:sp>
      <p:sp>
        <p:nvSpPr>
          <p:cNvPr id="18" name="Shape 14"/>
          <p:cNvSpPr/>
          <p:nvPr/>
        </p:nvSpPr>
        <p:spPr>
          <a:xfrm>
            <a:off x="7498080" y="1115568"/>
            <a:ext cx="1188720" cy="292608"/>
          </a:xfrm>
          <a:prstGeom prst="roundRect">
            <a:avLst>
              <a:gd name="adj" fmla="val 50000"/>
            </a:avLst>
          </a:prstGeom>
          <a:solidFill>
            <a:srgbClr val="FFFFFF"/>
          </a:solidFill>
          <a:ln w="12700">
            <a:solidFill>
              <a:srgbClr val="2563EB"/>
            </a:solidFill>
            <a:prstDash val="solid"/>
          </a:ln>
        </p:spPr>
      </p:sp>
      <p:sp>
        <p:nvSpPr>
          <p:cNvPr id="19" name="Text 15"/>
          <p:cNvSpPr txBox="1"/>
          <p:nvPr/>
        </p:nvSpPr>
        <p:spPr>
          <a:xfrm>
            <a:off x="7498080" y="1115568"/>
            <a:ext cx="1188720" cy="292608"/>
          </a:xfrm>
          <a:prstGeom prst="rect">
            <a:avLst/>
          </a:prstGeom>
          <a:noFill/>
          <a:ln/>
        </p:spPr>
        <p:txBody>
          <a:bodyPr wrap="square" lIns="0" tIns="0" rIns="0" bIns="0" rtlCol="0" anchor="ctr"/>
          <a:lstStyle/>
          <a:p>
            <a:pPr algn="ctr" indent="0" marL="0">
              <a:buNone/>
            </a:pPr>
            <a:r>
              <a:rPr lang="en-US" sz="850" b="1" dirty="0">
                <a:solidFill>
                  <a:srgbClr val="2563EB"/>
                </a:solidFill>
                <a:latin typeface="Calibri" pitchFamily="34" charset="0"/>
                <a:ea typeface="Calibri" pitchFamily="34" charset="-122"/>
                <a:cs typeface="Calibri" pitchFamily="34" charset="-120"/>
              </a:rPr>
              <a:t>CONFIRMED</a:t>
            </a:r>
            <a:endParaRPr lang="en-US" sz="850" dirty="0"/>
          </a:p>
        </p:txBody>
      </p:sp>
      <p:sp>
        <p:nvSpPr>
          <p:cNvPr id="20" name="Shape 16"/>
          <p:cNvSpPr/>
          <p:nvPr/>
        </p:nvSpPr>
        <p:spPr>
          <a:xfrm>
            <a:off x="7498080" y="1499616"/>
            <a:ext cx="1188720" cy="292608"/>
          </a:xfrm>
          <a:prstGeom prst="roundRect">
            <a:avLst>
              <a:gd name="adj" fmla="val 50000"/>
            </a:avLst>
          </a:prstGeom>
          <a:solidFill>
            <a:srgbClr val="FFFFFF"/>
          </a:solidFill>
          <a:ln w="12700">
            <a:solidFill>
              <a:srgbClr val="2563EB"/>
            </a:solidFill>
            <a:prstDash val="solid"/>
          </a:ln>
        </p:spPr>
      </p:sp>
      <p:sp>
        <p:nvSpPr>
          <p:cNvPr id="21" name="Text 17"/>
          <p:cNvSpPr txBox="1"/>
          <p:nvPr/>
        </p:nvSpPr>
        <p:spPr>
          <a:xfrm>
            <a:off x="7498080" y="1499616"/>
            <a:ext cx="1188720" cy="292608"/>
          </a:xfrm>
          <a:prstGeom prst="rect">
            <a:avLst/>
          </a:prstGeom>
          <a:noFill/>
          <a:ln/>
        </p:spPr>
        <p:txBody>
          <a:bodyPr wrap="square" lIns="0" tIns="0" rIns="0" bIns="0" rtlCol="0" anchor="ctr"/>
          <a:lstStyle/>
          <a:p>
            <a:pPr algn="ctr" indent="0" marL="0">
              <a:buNone/>
            </a:pPr>
            <a:r>
              <a:rPr lang="en-US" sz="850" b="1" dirty="0">
                <a:solidFill>
                  <a:srgbClr val="2563EB"/>
                </a:solidFill>
                <a:latin typeface="Calibri" pitchFamily="34" charset="0"/>
                <a:ea typeface="Calibri" pitchFamily="34" charset="-122"/>
                <a:cs typeface="Calibri" pitchFamily="34" charset="-120"/>
              </a:rPr>
              <a:t>PROCESSING</a:t>
            </a:r>
            <a:endParaRPr lang="en-US" sz="850" dirty="0"/>
          </a:p>
        </p:txBody>
      </p:sp>
      <p:sp>
        <p:nvSpPr>
          <p:cNvPr id="22" name="Shape 18"/>
          <p:cNvSpPr/>
          <p:nvPr/>
        </p:nvSpPr>
        <p:spPr>
          <a:xfrm>
            <a:off x="7498080" y="1883664"/>
            <a:ext cx="1188720" cy="292608"/>
          </a:xfrm>
          <a:prstGeom prst="roundRect">
            <a:avLst>
              <a:gd name="adj" fmla="val 50000"/>
            </a:avLst>
          </a:prstGeom>
          <a:solidFill>
            <a:srgbClr val="FFFFFF"/>
          </a:solidFill>
          <a:ln w="12700">
            <a:solidFill>
              <a:srgbClr val="2563EB"/>
            </a:solidFill>
            <a:prstDash val="solid"/>
          </a:ln>
        </p:spPr>
      </p:sp>
      <p:sp>
        <p:nvSpPr>
          <p:cNvPr id="23" name="Text 19"/>
          <p:cNvSpPr txBox="1"/>
          <p:nvPr/>
        </p:nvSpPr>
        <p:spPr>
          <a:xfrm>
            <a:off x="7498080" y="1883664"/>
            <a:ext cx="1188720" cy="292608"/>
          </a:xfrm>
          <a:prstGeom prst="rect">
            <a:avLst/>
          </a:prstGeom>
          <a:noFill/>
          <a:ln/>
        </p:spPr>
        <p:txBody>
          <a:bodyPr wrap="square" lIns="0" tIns="0" rIns="0" bIns="0" rtlCol="0" anchor="ctr"/>
          <a:lstStyle/>
          <a:p>
            <a:pPr algn="ctr" indent="0" marL="0">
              <a:buNone/>
            </a:pPr>
            <a:r>
              <a:rPr lang="en-US" sz="850" b="1" dirty="0">
                <a:solidFill>
                  <a:srgbClr val="2563EB"/>
                </a:solidFill>
                <a:latin typeface="Calibri" pitchFamily="34" charset="0"/>
                <a:ea typeface="Calibri" pitchFamily="34" charset="-122"/>
                <a:cs typeface="Calibri" pitchFamily="34" charset="-120"/>
              </a:rPr>
              <a:t>PACKED</a:t>
            </a:r>
            <a:endParaRPr lang="en-US" sz="850" dirty="0"/>
          </a:p>
        </p:txBody>
      </p:sp>
      <p:sp>
        <p:nvSpPr>
          <p:cNvPr id="24" name="Shape 20"/>
          <p:cNvSpPr/>
          <p:nvPr/>
        </p:nvSpPr>
        <p:spPr>
          <a:xfrm>
            <a:off x="7498080" y="2267712"/>
            <a:ext cx="1188720" cy="292608"/>
          </a:xfrm>
          <a:prstGeom prst="roundRect">
            <a:avLst>
              <a:gd name="adj" fmla="val 50000"/>
            </a:avLst>
          </a:prstGeom>
          <a:solidFill>
            <a:srgbClr val="FFFFFF"/>
          </a:solidFill>
          <a:ln w="12700">
            <a:solidFill>
              <a:srgbClr val="2563EB"/>
            </a:solidFill>
            <a:prstDash val="solid"/>
          </a:ln>
        </p:spPr>
      </p:sp>
      <p:sp>
        <p:nvSpPr>
          <p:cNvPr id="25" name="Text 21"/>
          <p:cNvSpPr txBox="1"/>
          <p:nvPr/>
        </p:nvSpPr>
        <p:spPr>
          <a:xfrm>
            <a:off x="7498080" y="2267712"/>
            <a:ext cx="1188720" cy="292608"/>
          </a:xfrm>
          <a:prstGeom prst="rect">
            <a:avLst/>
          </a:prstGeom>
          <a:noFill/>
          <a:ln/>
        </p:spPr>
        <p:txBody>
          <a:bodyPr wrap="square" lIns="0" tIns="0" rIns="0" bIns="0" rtlCol="0" anchor="ctr"/>
          <a:lstStyle/>
          <a:p>
            <a:pPr algn="ctr" indent="0" marL="0">
              <a:buNone/>
            </a:pPr>
            <a:r>
              <a:rPr lang="en-US" sz="850" b="1" dirty="0">
                <a:solidFill>
                  <a:srgbClr val="2563EB"/>
                </a:solidFill>
                <a:latin typeface="Calibri" pitchFamily="34" charset="0"/>
                <a:ea typeface="Calibri" pitchFamily="34" charset="-122"/>
                <a:cs typeface="Calibri" pitchFamily="34" charset="-120"/>
              </a:rPr>
              <a:t>SHIPPED</a:t>
            </a:r>
            <a:endParaRPr lang="en-US" sz="850" dirty="0"/>
          </a:p>
        </p:txBody>
      </p:sp>
      <p:sp>
        <p:nvSpPr>
          <p:cNvPr id="26" name="Shape 22"/>
          <p:cNvSpPr/>
          <p:nvPr/>
        </p:nvSpPr>
        <p:spPr>
          <a:xfrm>
            <a:off x="7498080" y="2651760"/>
            <a:ext cx="1188720" cy="292608"/>
          </a:xfrm>
          <a:prstGeom prst="roundRect">
            <a:avLst>
              <a:gd name="adj" fmla="val 50000"/>
            </a:avLst>
          </a:prstGeom>
          <a:solidFill>
            <a:srgbClr val="FFFFFF"/>
          </a:solidFill>
          <a:ln w="12700">
            <a:solidFill>
              <a:srgbClr val="059669"/>
            </a:solidFill>
            <a:prstDash val="solid"/>
          </a:ln>
        </p:spPr>
      </p:sp>
      <p:sp>
        <p:nvSpPr>
          <p:cNvPr id="27" name="Text 23"/>
          <p:cNvSpPr txBox="1"/>
          <p:nvPr/>
        </p:nvSpPr>
        <p:spPr>
          <a:xfrm>
            <a:off x="7498080" y="2651760"/>
            <a:ext cx="1188720" cy="292608"/>
          </a:xfrm>
          <a:prstGeom prst="rect">
            <a:avLst/>
          </a:prstGeom>
          <a:noFill/>
          <a:ln/>
        </p:spPr>
        <p:txBody>
          <a:bodyPr wrap="square" lIns="0" tIns="0" rIns="0" bIns="0" rtlCol="0" anchor="ctr"/>
          <a:lstStyle/>
          <a:p>
            <a:pPr algn="ctr" indent="0" marL="0">
              <a:buNone/>
            </a:pPr>
            <a:r>
              <a:rPr lang="en-US" sz="850" b="1" dirty="0">
                <a:solidFill>
                  <a:srgbClr val="059669"/>
                </a:solidFill>
                <a:latin typeface="Calibri" pitchFamily="34" charset="0"/>
                <a:ea typeface="Calibri" pitchFamily="34" charset="-122"/>
                <a:cs typeface="Calibri" pitchFamily="34" charset="-120"/>
              </a:rPr>
              <a:t>DELIVERED</a:t>
            </a:r>
            <a:endParaRPr lang="en-US" sz="850" dirty="0"/>
          </a:p>
        </p:txBody>
      </p:sp>
      <p:sp>
        <p:nvSpPr>
          <p:cNvPr id="28" name="Shape 24"/>
          <p:cNvSpPr/>
          <p:nvPr/>
        </p:nvSpPr>
        <p:spPr>
          <a:xfrm>
            <a:off x="7498080" y="3035808"/>
            <a:ext cx="1188720" cy="292608"/>
          </a:xfrm>
          <a:prstGeom prst="roundRect">
            <a:avLst>
              <a:gd name="adj" fmla="val 50000"/>
            </a:avLst>
          </a:prstGeom>
          <a:solidFill>
            <a:srgbClr val="FFFFFF"/>
          </a:solidFill>
          <a:ln w="12700">
            <a:solidFill>
              <a:srgbClr val="DC2626"/>
            </a:solidFill>
            <a:prstDash val="solid"/>
          </a:ln>
        </p:spPr>
      </p:sp>
      <p:sp>
        <p:nvSpPr>
          <p:cNvPr id="29" name="Text 25"/>
          <p:cNvSpPr txBox="1"/>
          <p:nvPr/>
        </p:nvSpPr>
        <p:spPr>
          <a:xfrm>
            <a:off x="7498080" y="3035808"/>
            <a:ext cx="1188720" cy="292608"/>
          </a:xfrm>
          <a:prstGeom prst="rect">
            <a:avLst/>
          </a:prstGeom>
          <a:noFill/>
          <a:ln/>
        </p:spPr>
        <p:txBody>
          <a:bodyPr wrap="square" lIns="0" tIns="0" rIns="0" bIns="0" rtlCol="0" anchor="ctr"/>
          <a:lstStyle/>
          <a:p>
            <a:pPr algn="ctr" indent="0" marL="0">
              <a:buNone/>
            </a:pPr>
            <a:r>
              <a:rPr lang="en-US" sz="850" b="1" dirty="0">
                <a:solidFill>
                  <a:srgbClr val="DC2626"/>
                </a:solidFill>
                <a:latin typeface="Calibri" pitchFamily="34" charset="0"/>
                <a:ea typeface="Calibri" pitchFamily="34" charset="-122"/>
                <a:cs typeface="Calibri" pitchFamily="34" charset="-120"/>
              </a:rPr>
              <a:t>CANCELLED</a:t>
            </a:r>
            <a:endParaRPr lang="en-US" sz="850" dirty="0"/>
          </a:p>
        </p:txBody>
      </p:sp>
      <p:sp>
        <p:nvSpPr>
          <p:cNvPr id="30" name="Shape 26"/>
          <p:cNvSpPr/>
          <p:nvPr/>
        </p:nvSpPr>
        <p:spPr>
          <a:xfrm>
            <a:off x="5120640" y="3520440"/>
            <a:ext cx="3566160" cy="1097280"/>
          </a:xfrm>
          <a:prstGeom prst="roundRect">
            <a:avLst>
              <a:gd name="adj" fmla="val 6667"/>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31" name="Text 27"/>
          <p:cNvSpPr txBox="1"/>
          <p:nvPr/>
        </p:nvSpPr>
        <p:spPr>
          <a:xfrm>
            <a:off x="5230368" y="3575304"/>
            <a:ext cx="3346704" cy="987552"/>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From cart to reservation</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Checkout creates the order, moves quantity from available to reserved, and notifies the creator and order managers.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12</a:t>
            </a:r>
            <a:endParaRPr lang="en-US" sz="850" dirty="0"/>
          </a:p>
        </p:txBody>
      </p:sp>
      <p:sp>
        <p:nvSpPr>
          <p:cNvPr id="4" name="Shape 2"/>
          <p:cNvSpPr/>
          <p:nvPr/>
        </p:nvSpPr>
        <p:spPr>
          <a:xfrm>
            <a:off x="457200" y="384048"/>
            <a:ext cx="1143000" cy="256032"/>
          </a:xfrm>
          <a:prstGeom prst="roundRect">
            <a:avLst>
              <a:gd name="adj" fmla="val 50000"/>
            </a:avLst>
          </a:prstGeom>
          <a:solidFill>
            <a:srgbClr val="DBEAFE"/>
          </a:solidFill>
          <a:ln w="12700">
            <a:solidFill>
              <a:srgbClr val="DBEAFE"/>
            </a:solidFill>
            <a:prstDash val="solid"/>
          </a:ln>
        </p:spPr>
      </p:sp>
      <p:sp>
        <p:nvSpPr>
          <p:cNvPr id="5" name="Text 3"/>
          <p:cNvSpPr txBox="1"/>
          <p:nvPr/>
        </p:nvSpPr>
        <p:spPr>
          <a:xfrm>
            <a:off x="457200" y="384048"/>
            <a:ext cx="1143000" cy="256032"/>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MODULE 06</a:t>
            </a:r>
            <a:endParaRPr lang="en-US" sz="950" dirty="0"/>
          </a:p>
        </p:txBody>
      </p:sp>
      <p:sp>
        <p:nvSpPr>
          <p:cNvPr id="6" name="Text 4"/>
          <p:cNvSpPr txBox="1"/>
          <p:nvPr/>
        </p:nvSpPr>
        <p:spPr>
          <a:xfrm>
            <a:off x="457200" y="749808"/>
            <a:ext cx="2926080" cy="868680"/>
          </a:xfrm>
          <a:prstGeom prst="rect">
            <a:avLst/>
          </a:prstGeom>
          <a:noFill/>
          <a:ln/>
        </p:spPr>
        <p:txBody>
          <a:bodyPr wrap="square" lIns="0" tIns="0" rIns="0" bIns="0" rtlCol="0" anchor="t"/>
          <a:lstStyle/>
          <a:p>
            <a:pPr indent="0" marL="0">
              <a:buNone/>
            </a:pPr>
            <a:r>
              <a:rPr lang="en-US" sz="2400" b="1" dirty="0">
                <a:solidFill>
                  <a:srgbClr val="0F172A"/>
                </a:solidFill>
                <a:latin typeface="Cambria" pitchFamily="34" charset="0"/>
                <a:ea typeface="Cambria" pitchFamily="34" charset="-122"/>
                <a:cs typeface="Cambria" pitchFamily="34" charset="-120"/>
              </a:rPr>
              <a:t>Fulfillment</a:t>
            </a:r>
            <a:endParaRPr lang="en-US" sz="2400" dirty="0"/>
          </a:p>
        </p:txBody>
      </p:sp>
      <p:sp>
        <p:nvSpPr>
          <p:cNvPr id="7" name="Text 5"/>
          <p:cNvSpPr txBox="1"/>
          <p:nvPr/>
        </p:nvSpPr>
        <p:spPr>
          <a:xfrm>
            <a:off x="457200" y="1691640"/>
            <a:ext cx="2926080" cy="109728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Moves an order from placement to delivery. The board groups orders by status and the admin advances them through PUT /api/orders/{id}/status.</a:t>
            </a:r>
            <a:endParaRPr lang="en-US" sz="1150" dirty="0"/>
          </a:p>
        </p:txBody>
      </p:sp>
      <p:sp>
        <p:nvSpPr>
          <p:cNvPr id="8" name="Text 6"/>
          <p:cNvSpPr txBox="1"/>
          <p:nvPr/>
        </p:nvSpPr>
        <p:spPr>
          <a:xfrm>
            <a:off x="457200" y="2834640"/>
            <a:ext cx="2926080" cy="1874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Statuses: Pending, Confirmed, Processing, Packed, Shipped, Delivered, Cancelled (FR-6.1)</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Mark as Packed moves a card to the next queue</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Inventory finalized on ship / deliver (FR-6.2)</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Creator notified on each change (FR-6.3)</a:t>
            </a:r>
            <a:endParaRPr lang="en-US" sz="1050" dirty="0"/>
          </a:p>
        </p:txBody>
      </p:sp>
      <p:sp>
        <p:nvSpPr>
          <p:cNvPr id="9" name="Shape 7"/>
          <p:cNvSpPr/>
          <p:nvPr/>
        </p:nvSpPr>
        <p:spPr>
          <a:xfrm>
            <a:off x="3529584" y="374904"/>
            <a:ext cx="5193792" cy="2241351"/>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0" name="Image 0" descr="/mnt/user-data/uploads/1000262996.png">    </p:cNvPr>
          <p:cNvPicPr>
            <a:picLocks noChangeAspect="1"/>
          </p:cNvPicPr>
          <p:nvPr/>
        </p:nvPicPr>
        <p:blipFill>
          <a:blip r:embed="rId1"/>
          <a:stretch>
            <a:fillRect/>
          </a:stretch>
        </p:blipFill>
        <p:spPr>
          <a:xfrm>
            <a:off x="3566160" y="411480"/>
            <a:ext cx="5120640" cy="2168199"/>
          </a:xfrm>
          <a:prstGeom prst="rect">
            <a:avLst/>
          </a:prstGeom>
        </p:spPr>
      </p:pic>
      <p:sp>
        <p:nvSpPr>
          <p:cNvPr id="11" name="Text 8"/>
          <p:cNvSpPr txBox="1"/>
          <p:nvPr/>
        </p:nvSpPr>
        <p:spPr>
          <a:xfrm>
            <a:off x="3529584" y="2634543"/>
            <a:ext cx="519379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Fulfillment Center: Pending, Packed and Shipped queues</a:t>
            </a:r>
            <a:endParaRPr lang="en-US" sz="900" dirty="0"/>
          </a:p>
        </p:txBody>
      </p:sp>
      <p:sp>
        <p:nvSpPr>
          <p:cNvPr id="12" name="Shape 9"/>
          <p:cNvSpPr/>
          <p:nvPr/>
        </p:nvSpPr>
        <p:spPr>
          <a:xfrm>
            <a:off x="3566160" y="3200400"/>
            <a:ext cx="1371600" cy="548640"/>
          </a:xfrm>
          <a:prstGeom prst="chevron">
            <a:avLst/>
          </a:prstGeom>
          <a:solidFill>
            <a:srgbClr val="2563EB"/>
          </a:solidFill>
          <a:ln w="19050">
            <a:solidFill>
              <a:srgbClr val="FFFFFF"/>
            </a:solidFill>
            <a:prstDash val="solid"/>
          </a:ln>
        </p:spPr>
      </p:sp>
      <p:sp>
        <p:nvSpPr>
          <p:cNvPr id="13" name="Text 10"/>
          <p:cNvSpPr txBox="1"/>
          <p:nvPr/>
        </p:nvSpPr>
        <p:spPr>
          <a:xfrm>
            <a:off x="3703320" y="3200400"/>
            <a:ext cx="109728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Pending</a:t>
            </a:r>
            <a:endParaRPr lang="en-US" sz="1100" dirty="0"/>
          </a:p>
        </p:txBody>
      </p:sp>
      <p:sp>
        <p:nvSpPr>
          <p:cNvPr id="14" name="Shape 11"/>
          <p:cNvSpPr/>
          <p:nvPr/>
        </p:nvSpPr>
        <p:spPr>
          <a:xfrm>
            <a:off x="4864608" y="3200400"/>
            <a:ext cx="1371600" cy="548640"/>
          </a:xfrm>
          <a:prstGeom prst="chevron">
            <a:avLst/>
          </a:prstGeom>
          <a:solidFill>
            <a:srgbClr val="2563EB"/>
          </a:solidFill>
          <a:ln w="19050">
            <a:solidFill>
              <a:srgbClr val="FFFFFF"/>
            </a:solidFill>
            <a:prstDash val="solid"/>
          </a:ln>
        </p:spPr>
      </p:sp>
      <p:sp>
        <p:nvSpPr>
          <p:cNvPr id="15" name="Text 12"/>
          <p:cNvSpPr txBox="1"/>
          <p:nvPr/>
        </p:nvSpPr>
        <p:spPr>
          <a:xfrm>
            <a:off x="5001768" y="3200400"/>
            <a:ext cx="109728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Packed</a:t>
            </a:r>
            <a:endParaRPr lang="en-US" sz="1100" dirty="0"/>
          </a:p>
        </p:txBody>
      </p:sp>
      <p:sp>
        <p:nvSpPr>
          <p:cNvPr id="16" name="Shape 13"/>
          <p:cNvSpPr/>
          <p:nvPr/>
        </p:nvSpPr>
        <p:spPr>
          <a:xfrm>
            <a:off x="6163056" y="3200400"/>
            <a:ext cx="1371600" cy="548640"/>
          </a:xfrm>
          <a:prstGeom prst="chevron">
            <a:avLst/>
          </a:prstGeom>
          <a:solidFill>
            <a:srgbClr val="2563EB"/>
          </a:solidFill>
          <a:ln w="19050">
            <a:solidFill>
              <a:srgbClr val="FFFFFF"/>
            </a:solidFill>
            <a:prstDash val="solid"/>
          </a:ln>
        </p:spPr>
      </p:sp>
      <p:sp>
        <p:nvSpPr>
          <p:cNvPr id="17" name="Text 14"/>
          <p:cNvSpPr txBox="1"/>
          <p:nvPr/>
        </p:nvSpPr>
        <p:spPr>
          <a:xfrm>
            <a:off x="6300216" y="3200400"/>
            <a:ext cx="109728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Shipped</a:t>
            </a:r>
            <a:endParaRPr lang="en-US" sz="1100" dirty="0"/>
          </a:p>
        </p:txBody>
      </p:sp>
      <p:sp>
        <p:nvSpPr>
          <p:cNvPr id="18" name="Shape 15"/>
          <p:cNvSpPr/>
          <p:nvPr/>
        </p:nvSpPr>
        <p:spPr>
          <a:xfrm>
            <a:off x="7461504" y="3200400"/>
            <a:ext cx="1371600" cy="548640"/>
          </a:xfrm>
          <a:prstGeom prst="chevron">
            <a:avLst/>
          </a:prstGeom>
          <a:solidFill>
            <a:srgbClr val="059669"/>
          </a:solidFill>
          <a:ln w="19050">
            <a:solidFill>
              <a:srgbClr val="FFFFFF"/>
            </a:solidFill>
            <a:prstDash val="solid"/>
          </a:ln>
        </p:spPr>
      </p:sp>
      <p:sp>
        <p:nvSpPr>
          <p:cNvPr id="19" name="Text 16"/>
          <p:cNvSpPr txBox="1"/>
          <p:nvPr/>
        </p:nvSpPr>
        <p:spPr>
          <a:xfrm>
            <a:off x="7598664" y="3200400"/>
            <a:ext cx="109728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Delivered</a:t>
            </a:r>
            <a:endParaRPr lang="en-US" sz="1100" dirty="0"/>
          </a:p>
        </p:txBody>
      </p:sp>
      <p:sp>
        <p:nvSpPr>
          <p:cNvPr id="20" name="Shape 17"/>
          <p:cNvSpPr/>
          <p:nvPr/>
        </p:nvSpPr>
        <p:spPr>
          <a:xfrm>
            <a:off x="3566160" y="3931920"/>
            <a:ext cx="5120640" cy="731520"/>
          </a:xfrm>
          <a:prstGeom prst="roundRect">
            <a:avLst>
              <a:gd name="adj" fmla="val 10000"/>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1" name="Text 18"/>
          <p:cNvSpPr txBox="1"/>
          <p:nvPr/>
        </p:nvSpPr>
        <p:spPr>
          <a:xfrm>
            <a:off x="3675888" y="3986784"/>
            <a:ext cx="4901184" cy="621792"/>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Inventory finalization</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On SHIPPED or DELIVERED, the reserved quantity is released and the total quantity is permanently reduced.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13</a:t>
            </a:r>
            <a:endParaRPr lang="en-US" sz="850" dirty="0"/>
          </a:p>
        </p:txBody>
      </p:sp>
      <p:sp>
        <p:nvSpPr>
          <p:cNvPr id="4" name="Shape 2"/>
          <p:cNvSpPr/>
          <p:nvPr/>
        </p:nvSpPr>
        <p:spPr>
          <a:xfrm>
            <a:off x="457200" y="384048"/>
            <a:ext cx="1143000" cy="256032"/>
          </a:xfrm>
          <a:prstGeom prst="roundRect">
            <a:avLst>
              <a:gd name="adj" fmla="val 50000"/>
            </a:avLst>
          </a:prstGeom>
          <a:solidFill>
            <a:srgbClr val="DBEAFE"/>
          </a:solidFill>
          <a:ln w="12700">
            <a:solidFill>
              <a:srgbClr val="DBEAFE"/>
            </a:solidFill>
            <a:prstDash val="solid"/>
          </a:ln>
        </p:spPr>
      </p:sp>
      <p:sp>
        <p:nvSpPr>
          <p:cNvPr id="5" name="Text 3"/>
          <p:cNvSpPr txBox="1"/>
          <p:nvPr/>
        </p:nvSpPr>
        <p:spPr>
          <a:xfrm>
            <a:off x="457200" y="384048"/>
            <a:ext cx="1143000" cy="256032"/>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MODULE 07</a:t>
            </a:r>
            <a:endParaRPr lang="en-US" sz="950" dirty="0"/>
          </a:p>
        </p:txBody>
      </p:sp>
      <p:sp>
        <p:nvSpPr>
          <p:cNvPr id="6" name="Text 4"/>
          <p:cNvSpPr txBox="1"/>
          <p:nvPr/>
        </p:nvSpPr>
        <p:spPr>
          <a:xfrm>
            <a:off x="457200" y="749808"/>
            <a:ext cx="2926080" cy="868680"/>
          </a:xfrm>
          <a:prstGeom prst="rect">
            <a:avLst/>
          </a:prstGeom>
          <a:noFill/>
          <a:ln/>
        </p:spPr>
        <p:txBody>
          <a:bodyPr wrap="square" lIns="0" tIns="0" rIns="0" bIns="0" rtlCol="0" anchor="t"/>
          <a:lstStyle/>
          <a:p>
            <a:pPr indent="0" marL="0">
              <a:buNone/>
            </a:pPr>
            <a:r>
              <a:rPr lang="en-US" sz="2400" b="1" dirty="0">
                <a:solidFill>
                  <a:srgbClr val="0F172A"/>
                </a:solidFill>
                <a:latin typeface="Cambria" pitchFamily="34" charset="0"/>
                <a:ea typeface="Cambria" pitchFamily="34" charset="-122"/>
                <a:cs typeface="Cambria" pitchFamily="34" charset="-120"/>
              </a:rPr>
              <a:t>Suppliers &amp; Purchase Orders</a:t>
            </a:r>
            <a:endParaRPr lang="en-US" sz="2400" dirty="0"/>
          </a:p>
        </p:txBody>
      </p:sp>
      <p:sp>
        <p:nvSpPr>
          <p:cNvPr id="7" name="Text 5"/>
          <p:cNvSpPr txBox="1"/>
          <p:nvPr/>
        </p:nvSpPr>
        <p:spPr>
          <a:xfrm>
            <a:off x="457200" y="1691640"/>
            <a:ext cx="2926080" cy="109728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Keeps a register of vendors and manages replenishment. A purchase order has product lines (quantity, unit cost, total) and moves from Pending to Received.</a:t>
            </a:r>
            <a:endParaRPr lang="en-US" sz="1150" dirty="0"/>
          </a:p>
        </p:txBody>
      </p:sp>
      <p:sp>
        <p:nvSpPr>
          <p:cNvPr id="8" name="Text 6"/>
          <p:cNvSpPr txBox="1"/>
          <p:nvPr/>
        </p:nvSpPr>
        <p:spPr>
          <a:xfrm>
            <a:off x="457200" y="2834640"/>
            <a:ext cx="2926080" cy="1874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Add, edit, view and delete suppliers (FR-7.1)</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Create PO with items and total (FR-7.2)</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Status tracking; supplier acceptance notifies procurement (FR-7.3)</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Receiving a PO adds stock to inventory</a:t>
            </a:r>
            <a:endParaRPr lang="en-US" sz="1050" dirty="0"/>
          </a:p>
        </p:txBody>
      </p:sp>
      <p:sp>
        <p:nvSpPr>
          <p:cNvPr id="9" name="Shape 7"/>
          <p:cNvSpPr/>
          <p:nvPr/>
        </p:nvSpPr>
        <p:spPr>
          <a:xfrm>
            <a:off x="3529584" y="374904"/>
            <a:ext cx="3502152" cy="1696912"/>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0" name="Image 0" descr="/mnt/user-data/uploads/1000262993.png">    </p:cNvPr>
          <p:cNvPicPr>
            <a:picLocks noChangeAspect="1"/>
          </p:cNvPicPr>
          <p:nvPr/>
        </p:nvPicPr>
        <p:blipFill>
          <a:blip r:embed="rId1"/>
          <a:stretch>
            <a:fillRect/>
          </a:stretch>
        </p:blipFill>
        <p:spPr>
          <a:xfrm>
            <a:off x="3566160" y="411480"/>
            <a:ext cx="3429000" cy="1623760"/>
          </a:xfrm>
          <a:prstGeom prst="rect">
            <a:avLst/>
          </a:prstGeom>
        </p:spPr>
      </p:pic>
      <p:sp>
        <p:nvSpPr>
          <p:cNvPr id="11" name="Text 8"/>
          <p:cNvSpPr txBox="1"/>
          <p:nvPr/>
        </p:nvSpPr>
        <p:spPr>
          <a:xfrm>
            <a:off x="3529584" y="2090104"/>
            <a:ext cx="350215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Supplier Directory</a:t>
            </a:r>
            <a:endParaRPr lang="en-US" sz="900" dirty="0"/>
          </a:p>
        </p:txBody>
      </p:sp>
      <p:sp>
        <p:nvSpPr>
          <p:cNvPr id="12" name="Shape 9"/>
          <p:cNvSpPr/>
          <p:nvPr/>
        </p:nvSpPr>
        <p:spPr>
          <a:xfrm>
            <a:off x="3529584" y="2340864"/>
            <a:ext cx="3502152" cy="1653296"/>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3" name="Image 1" descr="/mnt/user-data/uploads/1000262990.png">    </p:cNvPr>
          <p:cNvPicPr>
            <a:picLocks noChangeAspect="1"/>
          </p:cNvPicPr>
          <p:nvPr/>
        </p:nvPicPr>
        <p:blipFill>
          <a:blip r:embed="rId2"/>
          <a:stretch>
            <a:fillRect/>
          </a:stretch>
        </p:blipFill>
        <p:spPr>
          <a:xfrm>
            <a:off x="3566160" y="2377440"/>
            <a:ext cx="3429000" cy="1580144"/>
          </a:xfrm>
          <a:prstGeom prst="rect">
            <a:avLst/>
          </a:prstGeom>
        </p:spPr>
      </p:pic>
      <p:sp>
        <p:nvSpPr>
          <p:cNvPr id="14" name="Text 10"/>
          <p:cNvSpPr txBox="1"/>
          <p:nvPr/>
        </p:nvSpPr>
        <p:spPr>
          <a:xfrm>
            <a:off x="3529584" y="4012448"/>
            <a:ext cx="350215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Procurement: PO list with status</a:t>
            </a:r>
            <a:endParaRPr lang="en-US" sz="900" dirty="0"/>
          </a:p>
        </p:txBody>
      </p:sp>
      <p:sp>
        <p:nvSpPr>
          <p:cNvPr id="15" name="Shape 11"/>
          <p:cNvSpPr/>
          <p:nvPr/>
        </p:nvSpPr>
        <p:spPr>
          <a:xfrm>
            <a:off x="7095744" y="374904"/>
            <a:ext cx="1627632" cy="1659275"/>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6" name="Image 2" descr="/mnt/user-data/uploads/1000262987.png">    </p:cNvPr>
          <p:cNvPicPr>
            <a:picLocks noChangeAspect="1"/>
          </p:cNvPicPr>
          <p:nvPr/>
        </p:nvPicPr>
        <p:blipFill>
          <a:blip r:embed="rId3"/>
          <a:stretch>
            <a:fillRect/>
          </a:stretch>
        </p:blipFill>
        <p:spPr>
          <a:xfrm>
            <a:off x="7132320" y="411480"/>
            <a:ext cx="1554480" cy="1586123"/>
          </a:xfrm>
          <a:prstGeom prst="rect">
            <a:avLst/>
          </a:prstGeom>
        </p:spPr>
      </p:pic>
      <p:sp>
        <p:nvSpPr>
          <p:cNvPr id="17" name="Text 12"/>
          <p:cNvSpPr txBox="1"/>
          <p:nvPr/>
        </p:nvSpPr>
        <p:spPr>
          <a:xfrm>
            <a:off x="7095744" y="2052467"/>
            <a:ext cx="162763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Create PO form</a:t>
            </a:r>
            <a:endParaRPr lang="en-US" sz="900" dirty="0"/>
          </a:p>
        </p:txBody>
      </p:sp>
      <p:sp>
        <p:nvSpPr>
          <p:cNvPr id="18" name="Text 13"/>
          <p:cNvSpPr txBox="1"/>
          <p:nvPr/>
        </p:nvSpPr>
        <p:spPr>
          <a:xfrm>
            <a:off x="7132320" y="2377440"/>
            <a:ext cx="1554480" cy="228600"/>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PO LIFECYCLE</a:t>
            </a:r>
            <a:endParaRPr lang="en-US" sz="950" dirty="0"/>
          </a:p>
        </p:txBody>
      </p:sp>
      <p:sp>
        <p:nvSpPr>
          <p:cNvPr id="19" name="Shape 14"/>
          <p:cNvSpPr/>
          <p:nvPr/>
        </p:nvSpPr>
        <p:spPr>
          <a:xfrm>
            <a:off x="7132320" y="2670048"/>
            <a:ext cx="1554480" cy="310896"/>
          </a:xfrm>
          <a:prstGeom prst="roundRect">
            <a:avLst>
              <a:gd name="adj" fmla="val 50000"/>
            </a:avLst>
          </a:prstGeom>
          <a:solidFill>
            <a:srgbClr val="DBEAFE"/>
          </a:solidFill>
          <a:ln w="12700">
            <a:solidFill>
              <a:srgbClr val="DBEAFE"/>
            </a:solidFill>
            <a:prstDash val="solid"/>
          </a:ln>
        </p:spPr>
      </p:sp>
      <p:sp>
        <p:nvSpPr>
          <p:cNvPr id="20" name="Text 15"/>
          <p:cNvSpPr txBox="1"/>
          <p:nvPr/>
        </p:nvSpPr>
        <p:spPr>
          <a:xfrm>
            <a:off x="7132320" y="2670048"/>
            <a:ext cx="1554480" cy="310896"/>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Pending</a:t>
            </a:r>
            <a:endParaRPr lang="en-US" sz="1000" dirty="0"/>
          </a:p>
        </p:txBody>
      </p:sp>
      <p:sp>
        <p:nvSpPr>
          <p:cNvPr id="21" name="Shape 16"/>
          <p:cNvSpPr/>
          <p:nvPr/>
        </p:nvSpPr>
        <p:spPr>
          <a:xfrm>
            <a:off x="7132320" y="3081528"/>
            <a:ext cx="1554480" cy="310896"/>
          </a:xfrm>
          <a:prstGeom prst="roundRect">
            <a:avLst>
              <a:gd name="adj" fmla="val 50000"/>
            </a:avLst>
          </a:prstGeom>
          <a:solidFill>
            <a:srgbClr val="DBEAFE"/>
          </a:solidFill>
          <a:ln w="12700">
            <a:solidFill>
              <a:srgbClr val="DBEAFE"/>
            </a:solidFill>
            <a:prstDash val="solid"/>
          </a:ln>
        </p:spPr>
      </p:sp>
      <p:sp>
        <p:nvSpPr>
          <p:cNvPr id="22" name="Text 17"/>
          <p:cNvSpPr txBox="1"/>
          <p:nvPr/>
        </p:nvSpPr>
        <p:spPr>
          <a:xfrm>
            <a:off x="7132320" y="3081528"/>
            <a:ext cx="1554480" cy="310896"/>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Accepted</a:t>
            </a:r>
            <a:endParaRPr lang="en-US" sz="1000" dirty="0"/>
          </a:p>
        </p:txBody>
      </p:sp>
      <p:sp>
        <p:nvSpPr>
          <p:cNvPr id="23" name="Shape 18"/>
          <p:cNvSpPr/>
          <p:nvPr/>
        </p:nvSpPr>
        <p:spPr>
          <a:xfrm>
            <a:off x="7132320" y="3493008"/>
            <a:ext cx="1554480" cy="310896"/>
          </a:xfrm>
          <a:prstGeom prst="roundRect">
            <a:avLst>
              <a:gd name="adj" fmla="val 50000"/>
            </a:avLst>
          </a:prstGeom>
          <a:solidFill>
            <a:srgbClr val="DBEAFE"/>
          </a:solidFill>
          <a:ln w="12700">
            <a:solidFill>
              <a:srgbClr val="DBEAFE"/>
            </a:solidFill>
            <a:prstDash val="solid"/>
          </a:ln>
        </p:spPr>
      </p:sp>
      <p:sp>
        <p:nvSpPr>
          <p:cNvPr id="24" name="Text 19"/>
          <p:cNvSpPr txBox="1"/>
          <p:nvPr/>
        </p:nvSpPr>
        <p:spPr>
          <a:xfrm>
            <a:off x="7132320" y="3493008"/>
            <a:ext cx="1554480" cy="310896"/>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Shipped</a:t>
            </a:r>
            <a:endParaRPr lang="en-US" sz="1000" dirty="0"/>
          </a:p>
        </p:txBody>
      </p:sp>
      <p:sp>
        <p:nvSpPr>
          <p:cNvPr id="25" name="Shape 20"/>
          <p:cNvSpPr/>
          <p:nvPr/>
        </p:nvSpPr>
        <p:spPr>
          <a:xfrm>
            <a:off x="7132320" y="3904488"/>
            <a:ext cx="1554480" cy="310896"/>
          </a:xfrm>
          <a:prstGeom prst="roundRect">
            <a:avLst>
              <a:gd name="adj" fmla="val 50000"/>
            </a:avLst>
          </a:prstGeom>
          <a:solidFill>
            <a:srgbClr val="059669"/>
          </a:solidFill>
          <a:ln w="12700">
            <a:solidFill>
              <a:srgbClr val="059669"/>
            </a:solidFill>
            <a:prstDash val="solid"/>
          </a:ln>
        </p:spPr>
      </p:sp>
      <p:sp>
        <p:nvSpPr>
          <p:cNvPr id="26" name="Text 21"/>
          <p:cNvSpPr txBox="1"/>
          <p:nvPr/>
        </p:nvSpPr>
        <p:spPr>
          <a:xfrm>
            <a:off x="7132320" y="3904488"/>
            <a:ext cx="155448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Received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14</a:t>
            </a:r>
            <a:endParaRPr lang="en-US" sz="850" dirty="0"/>
          </a:p>
        </p:txBody>
      </p:sp>
      <p:sp>
        <p:nvSpPr>
          <p:cNvPr id="4" name="Shape 2"/>
          <p:cNvSpPr/>
          <p:nvPr/>
        </p:nvSpPr>
        <p:spPr>
          <a:xfrm>
            <a:off x="457200" y="384048"/>
            <a:ext cx="1143000" cy="256032"/>
          </a:xfrm>
          <a:prstGeom prst="roundRect">
            <a:avLst>
              <a:gd name="adj" fmla="val 50000"/>
            </a:avLst>
          </a:prstGeom>
          <a:solidFill>
            <a:srgbClr val="DBEAFE"/>
          </a:solidFill>
          <a:ln w="12700">
            <a:solidFill>
              <a:srgbClr val="DBEAFE"/>
            </a:solidFill>
            <a:prstDash val="solid"/>
          </a:ln>
        </p:spPr>
      </p:sp>
      <p:sp>
        <p:nvSpPr>
          <p:cNvPr id="5" name="Text 3"/>
          <p:cNvSpPr txBox="1"/>
          <p:nvPr/>
        </p:nvSpPr>
        <p:spPr>
          <a:xfrm>
            <a:off x="457200" y="384048"/>
            <a:ext cx="1143000" cy="256032"/>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MODULE 08</a:t>
            </a:r>
            <a:endParaRPr lang="en-US" sz="950" dirty="0"/>
          </a:p>
        </p:txBody>
      </p:sp>
      <p:sp>
        <p:nvSpPr>
          <p:cNvPr id="6" name="Text 4"/>
          <p:cNvSpPr txBox="1"/>
          <p:nvPr/>
        </p:nvSpPr>
        <p:spPr>
          <a:xfrm>
            <a:off x="457200" y="749808"/>
            <a:ext cx="2926080" cy="868680"/>
          </a:xfrm>
          <a:prstGeom prst="rect">
            <a:avLst/>
          </a:prstGeom>
          <a:noFill/>
          <a:ln/>
        </p:spPr>
        <p:txBody>
          <a:bodyPr wrap="square" lIns="0" tIns="0" rIns="0" bIns="0" rtlCol="0" anchor="t"/>
          <a:lstStyle/>
          <a:p>
            <a:pPr indent="0" marL="0">
              <a:buNone/>
            </a:pPr>
            <a:r>
              <a:rPr lang="en-US" sz="2400" b="1" dirty="0">
                <a:solidFill>
                  <a:srgbClr val="0F172A"/>
                </a:solidFill>
                <a:latin typeface="Cambria" pitchFamily="34" charset="0"/>
                <a:ea typeface="Cambria" pitchFamily="34" charset="-122"/>
                <a:cs typeface="Cambria" pitchFamily="34" charset="-120"/>
              </a:rPr>
              <a:t>Supplier Portal</a:t>
            </a:r>
            <a:endParaRPr lang="en-US" sz="2400" dirty="0"/>
          </a:p>
        </p:txBody>
      </p:sp>
      <p:sp>
        <p:nvSpPr>
          <p:cNvPr id="7" name="Text 5"/>
          <p:cNvSpPr txBox="1"/>
          <p:nvPr/>
        </p:nvSpPr>
        <p:spPr>
          <a:xfrm>
            <a:off x="457200" y="1691640"/>
            <a:ext cx="2926080" cy="109728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Lets suppliers handle their own purchase orders without admin rights. After login, a ROLE_SUPPLIER user sees only the supplier dashboard and the POs assigned to them (/api/supplier).</a:t>
            </a:r>
            <a:endParaRPr lang="en-US" sz="1150" dirty="0"/>
          </a:p>
        </p:txBody>
      </p:sp>
      <p:sp>
        <p:nvSpPr>
          <p:cNvPr id="8" name="Text 6"/>
          <p:cNvSpPr txBox="1"/>
          <p:nvPr/>
        </p:nvSpPr>
        <p:spPr>
          <a:xfrm>
            <a:off x="457200" y="2834640"/>
            <a:ext cx="2926080" cy="1874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View assigned purchase orders only (FR-8.1)</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Update PO status, e.g. accept or ship (FR-8.2)</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Edit item details of an assigned order (FR-8.3)</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Dashboard counts: total, pending, completed</a:t>
            </a:r>
            <a:endParaRPr lang="en-US" sz="1050" dirty="0"/>
          </a:p>
        </p:txBody>
      </p:sp>
      <p:sp>
        <p:nvSpPr>
          <p:cNvPr id="9" name="Shape 7"/>
          <p:cNvSpPr/>
          <p:nvPr/>
        </p:nvSpPr>
        <p:spPr>
          <a:xfrm>
            <a:off x="3529584" y="374904"/>
            <a:ext cx="5193792" cy="2493906"/>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0" name="Image 0" descr="/mnt/user-data/uploads/1000262978.png">    </p:cNvPr>
          <p:cNvPicPr>
            <a:picLocks noChangeAspect="1"/>
          </p:cNvPicPr>
          <p:nvPr/>
        </p:nvPicPr>
        <p:blipFill>
          <a:blip r:embed="rId1"/>
          <a:stretch>
            <a:fillRect/>
          </a:stretch>
        </p:blipFill>
        <p:spPr>
          <a:xfrm>
            <a:off x="3566160" y="411480"/>
            <a:ext cx="5120640" cy="2420754"/>
          </a:xfrm>
          <a:prstGeom prst="rect">
            <a:avLst/>
          </a:prstGeom>
        </p:spPr>
      </p:pic>
      <p:sp>
        <p:nvSpPr>
          <p:cNvPr id="11" name="Text 8"/>
          <p:cNvSpPr txBox="1"/>
          <p:nvPr/>
        </p:nvSpPr>
        <p:spPr>
          <a:xfrm>
            <a:off x="3529584" y="2887098"/>
            <a:ext cx="519379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Supplier Dashboard with recent purchase orders</a:t>
            </a:r>
            <a:endParaRPr lang="en-US" sz="900" dirty="0"/>
          </a:p>
        </p:txBody>
      </p:sp>
      <p:sp>
        <p:nvSpPr>
          <p:cNvPr id="12" name="Shape 9"/>
          <p:cNvSpPr/>
          <p:nvPr/>
        </p:nvSpPr>
        <p:spPr>
          <a:xfrm>
            <a:off x="3529584" y="3209544"/>
            <a:ext cx="5193792" cy="1133285"/>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3" name="Image 1" descr="/mnt/user-data/uploads/1000262975.png">    </p:cNvPr>
          <p:cNvPicPr>
            <a:picLocks noChangeAspect="1"/>
          </p:cNvPicPr>
          <p:nvPr/>
        </p:nvPicPr>
        <p:blipFill>
          <a:blip r:embed="rId2"/>
          <a:stretch>
            <a:fillRect/>
          </a:stretch>
        </p:blipFill>
        <p:spPr>
          <a:xfrm>
            <a:off x="3566160" y="3246120"/>
            <a:ext cx="5120640" cy="1060132"/>
          </a:xfrm>
          <a:prstGeom prst="rect">
            <a:avLst/>
          </a:prstGeom>
        </p:spPr>
      </p:pic>
      <p:sp>
        <p:nvSpPr>
          <p:cNvPr id="14" name="Text 10"/>
          <p:cNvSpPr txBox="1"/>
          <p:nvPr/>
        </p:nvSpPr>
        <p:spPr>
          <a:xfrm>
            <a:off x="3529584" y="4361116"/>
            <a:ext cx="519379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Purchase order detail: date, status and total amount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15</a:t>
            </a:r>
            <a:endParaRPr lang="en-US" sz="850" dirty="0"/>
          </a:p>
        </p:txBody>
      </p:sp>
      <p:sp>
        <p:nvSpPr>
          <p:cNvPr id="4" name="Shape 2"/>
          <p:cNvSpPr/>
          <p:nvPr/>
        </p:nvSpPr>
        <p:spPr>
          <a:xfrm>
            <a:off x="457200" y="384048"/>
            <a:ext cx="1143000" cy="256032"/>
          </a:xfrm>
          <a:prstGeom prst="roundRect">
            <a:avLst>
              <a:gd name="adj" fmla="val 50000"/>
            </a:avLst>
          </a:prstGeom>
          <a:solidFill>
            <a:srgbClr val="DBEAFE"/>
          </a:solidFill>
          <a:ln w="12700">
            <a:solidFill>
              <a:srgbClr val="DBEAFE"/>
            </a:solidFill>
            <a:prstDash val="solid"/>
          </a:ln>
        </p:spPr>
      </p:sp>
      <p:sp>
        <p:nvSpPr>
          <p:cNvPr id="5" name="Text 3"/>
          <p:cNvSpPr txBox="1"/>
          <p:nvPr/>
        </p:nvSpPr>
        <p:spPr>
          <a:xfrm>
            <a:off x="457200" y="384048"/>
            <a:ext cx="1143000" cy="256032"/>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MODULE 09</a:t>
            </a:r>
            <a:endParaRPr lang="en-US" sz="950" dirty="0"/>
          </a:p>
        </p:txBody>
      </p:sp>
      <p:sp>
        <p:nvSpPr>
          <p:cNvPr id="6" name="Text 4"/>
          <p:cNvSpPr txBox="1"/>
          <p:nvPr/>
        </p:nvSpPr>
        <p:spPr>
          <a:xfrm>
            <a:off x="457200" y="749808"/>
            <a:ext cx="2926080" cy="868680"/>
          </a:xfrm>
          <a:prstGeom prst="rect">
            <a:avLst/>
          </a:prstGeom>
          <a:noFill/>
          <a:ln/>
        </p:spPr>
        <p:txBody>
          <a:bodyPr wrap="square" lIns="0" tIns="0" rIns="0" bIns="0" rtlCol="0" anchor="t"/>
          <a:lstStyle/>
          <a:p>
            <a:pPr indent="0" marL="0">
              <a:buNone/>
            </a:pPr>
            <a:r>
              <a:rPr lang="en-US" sz="2400" b="1" dirty="0">
                <a:solidFill>
                  <a:srgbClr val="0F172A"/>
                </a:solidFill>
                <a:latin typeface="Cambria" pitchFamily="34" charset="0"/>
                <a:ea typeface="Cambria" pitchFamily="34" charset="-122"/>
                <a:cs typeface="Cambria" pitchFamily="34" charset="-120"/>
              </a:rPr>
              <a:t>Customer Portal</a:t>
            </a:r>
            <a:endParaRPr lang="en-US" sz="2400" dirty="0"/>
          </a:p>
        </p:txBody>
      </p:sp>
      <p:sp>
        <p:nvSpPr>
          <p:cNvPr id="7" name="Text 5"/>
          <p:cNvSpPr txBox="1"/>
          <p:nvPr/>
        </p:nvSpPr>
        <p:spPr>
          <a:xfrm>
            <a:off x="457200" y="1691640"/>
            <a:ext cx="2926080" cy="109728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Provides the online shop front. Customers browse products by category or collection, add items to a cart, place orders and view their own history. Admin pages stay closed to them.</a:t>
            </a:r>
            <a:endParaRPr lang="en-US" sz="1150" dirty="0"/>
          </a:p>
        </p:txBody>
      </p:sp>
      <p:sp>
        <p:nvSpPr>
          <p:cNvPr id="8" name="Text 6"/>
          <p:cNvSpPr txBox="1"/>
          <p:nvPr/>
        </p:nvSpPr>
        <p:spPr>
          <a:xfrm>
            <a:off x="457200" y="2834640"/>
            <a:ext cx="2926080" cy="1874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Browse and filter the catalog (FR-9.1)</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Cart with quantity controls, then checkout (FR-9.2)</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Order history shows only own orders (FR-9.3)</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Expandable tracking: Confirmed, Packed, Shipped, Delivered</a:t>
            </a:r>
            <a:endParaRPr lang="en-US" sz="1050" dirty="0"/>
          </a:p>
        </p:txBody>
      </p:sp>
      <p:sp>
        <p:nvSpPr>
          <p:cNvPr id="9" name="Shape 7"/>
          <p:cNvSpPr/>
          <p:nvPr/>
        </p:nvSpPr>
        <p:spPr>
          <a:xfrm>
            <a:off x="3529584" y="466344"/>
            <a:ext cx="3090672" cy="1796841"/>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0" name="Image 0" descr="/mnt/user-data/uploads/1000263014.png">    </p:cNvPr>
          <p:cNvPicPr>
            <a:picLocks noChangeAspect="1"/>
          </p:cNvPicPr>
          <p:nvPr/>
        </p:nvPicPr>
        <p:blipFill>
          <a:blip r:embed="rId1"/>
          <a:stretch>
            <a:fillRect/>
          </a:stretch>
        </p:blipFill>
        <p:spPr>
          <a:xfrm>
            <a:off x="3566160" y="502920"/>
            <a:ext cx="3017520" cy="1723689"/>
          </a:xfrm>
          <a:prstGeom prst="rect">
            <a:avLst/>
          </a:prstGeom>
        </p:spPr>
      </p:pic>
      <p:sp>
        <p:nvSpPr>
          <p:cNvPr id="11" name="Text 8"/>
          <p:cNvSpPr txBox="1"/>
          <p:nvPr/>
        </p:nvSpPr>
        <p:spPr>
          <a:xfrm>
            <a:off x="3529584" y="2281473"/>
            <a:ext cx="309067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My Orders with tracking timeline</a:t>
            </a:r>
            <a:endParaRPr lang="en-US" sz="900" dirty="0"/>
          </a:p>
        </p:txBody>
      </p:sp>
      <p:sp>
        <p:nvSpPr>
          <p:cNvPr id="12" name="Shape 9"/>
          <p:cNvSpPr/>
          <p:nvPr/>
        </p:nvSpPr>
        <p:spPr>
          <a:xfrm>
            <a:off x="6821424" y="466344"/>
            <a:ext cx="1901952" cy="1426752"/>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3" name="Image 1" descr="/mnt/user-data/uploads/1000263020.png">    </p:cNvPr>
          <p:cNvPicPr>
            <a:picLocks noChangeAspect="1"/>
          </p:cNvPicPr>
          <p:nvPr/>
        </p:nvPicPr>
        <p:blipFill>
          <a:blip r:embed="rId2"/>
          <a:stretch>
            <a:fillRect/>
          </a:stretch>
        </p:blipFill>
        <p:spPr>
          <a:xfrm>
            <a:off x="6858000" y="502920"/>
            <a:ext cx="1828800" cy="1353600"/>
          </a:xfrm>
          <a:prstGeom prst="rect">
            <a:avLst/>
          </a:prstGeom>
        </p:spPr>
      </p:pic>
      <p:sp>
        <p:nvSpPr>
          <p:cNvPr id="14" name="Text 10"/>
          <p:cNvSpPr txBox="1"/>
          <p:nvPr/>
        </p:nvSpPr>
        <p:spPr>
          <a:xfrm>
            <a:off x="6821424" y="1911384"/>
            <a:ext cx="190195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Cart and checkout</a:t>
            </a:r>
            <a:endParaRPr lang="en-US" sz="900" dirty="0"/>
          </a:p>
        </p:txBody>
      </p:sp>
      <p:sp>
        <p:nvSpPr>
          <p:cNvPr id="15" name="Shape 11"/>
          <p:cNvSpPr/>
          <p:nvPr/>
        </p:nvSpPr>
        <p:spPr>
          <a:xfrm>
            <a:off x="3566160" y="3063240"/>
            <a:ext cx="1188720" cy="640080"/>
          </a:xfrm>
          <a:prstGeom prst="roundRect">
            <a:avLst>
              <a:gd name="adj" fmla="val 11429"/>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6" name="Text 12"/>
          <p:cNvSpPr txBox="1"/>
          <p:nvPr/>
        </p:nvSpPr>
        <p:spPr>
          <a:xfrm>
            <a:off x="3566160" y="3063240"/>
            <a:ext cx="1188720" cy="640080"/>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1  </a:t>
            </a:r>
            <a:pPr algn="ctr" indent="0" marL="0">
              <a:buNone/>
            </a:pPr>
            <a:r>
              <a:rPr lang="en-US" sz="1100" dirty="0">
                <a:solidFill>
                  <a:srgbClr val="1E293B"/>
                </a:solidFill>
                <a:latin typeface="Calibri" pitchFamily="34" charset="0"/>
                <a:ea typeface="Calibri" pitchFamily="34" charset="-122"/>
                <a:cs typeface="Calibri" pitchFamily="34" charset="-120"/>
              </a:rPr>
              <a:t>Browse</a:t>
            </a:r>
            <a:endParaRPr lang="en-US" sz="1100" dirty="0"/>
          </a:p>
        </p:txBody>
      </p:sp>
      <p:sp>
        <p:nvSpPr>
          <p:cNvPr id="17" name="Shape 13"/>
          <p:cNvSpPr/>
          <p:nvPr/>
        </p:nvSpPr>
        <p:spPr>
          <a:xfrm>
            <a:off x="4864608" y="3063240"/>
            <a:ext cx="1188720" cy="640080"/>
          </a:xfrm>
          <a:prstGeom prst="roundRect">
            <a:avLst>
              <a:gd name="adj" fmla="val 11429"/>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8" name="Text 14"/>
          <p:cNvSpPr txBox="1"/>
          <p:nvPr/>
        </p:nvSpPr>
        <p:spPr>
          <a:xfrm>
            <a:off x="4864608" y="3063240"/>
            <a:ext cx="1188720" cy="640080"/>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2  </a:t>
            </a:r>
            <a:pPr algn="ctr" indent="0" marL="0">
              <a:buNone/>
            </a:pPr>
            <a:r>
              <a:rPr lang="en-US" sz="1100" dirty="0">
                <a:solidFill>
                  <a:srgbClr val="1E293B"/>
                </a:solidFill>
                <a:latin typeface="Calibri" pitchFamily="34" charset="0"/>
                <a:ea typeface="Calibri" pitchFamily="34" charset="-122"/>
                <a:cs typeface="Calibri" pitchFamily="34" charset="-120"/>
              </a:rPr>
              <a:t>Add to cart</a:t>
            </a:r>
            <a:endParaRPr lang="en-US" sz="1100" dirty="0"/>
          </a:p>
        </p:txBody>
      </p:sp>
      <p:sp>
        <p:nvSpPr>
          <p:cNvPr id="19" name="Shape 15"/>
          <p:cNvSpPr/>
          <p:nvPr/>
        </p:nvSpPr>
        <p:spPr>
          <a:xfrm>
            <a:off x="6163056" y="3063240"/>
            <a:ext cx="1188720" cy="640080"/>
          </a:xfrm>
          <a:prstGeom prst="roundRect">
            <a:avLst>
              <a:gd name="adj" fmla="val 11429"/>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0" name="Text 16"/>
          <p:cNvSpPr txBox="1"/>
          <p:nvPr/>
        </p:nvSpPr>
        <p:spPr>
          <a:xfrm>
            <a:off x="6163056" y="3063240"/>
            <a:ext cx="1188720" cy="640080"/>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3  </a:t>
            </a:r>
            <a:pPr algn="ctr" indent="0" marL="0">
              <a:buNone/>
            </a:pPr>
            <a:r>
              <a:rPr lang="en-US" sz="1100" dirty="0">
                <a:solidFill>
                  <a:srgbClr val="1E293B"/>
                </a:solidFill>
                <a:latin typeface="Calibri" pitchFamily="34" charset="0"/>
                <a:ea typeface="Calibri" pitchFamily="34" charset="-122"/>
                <a:cs typeface="Calibri" pitchFamily="34" charset="-120"/>
              </a:rPr>
              <a:t>Place order</a:t>
            </a:r>
            <a:endParaRPr lang="en-US" sz="1100" dirty="0"/>
          </a:p>
        </p:txBody>
      </p:sp>
      <p:sp>
        <p:nvSpPr>
          <p:cNvPr id="21" name="Shape 17"/>
          <p:cNvSpPr/>
          <p:nvPr/>
        </p:nvSpPr>
        <p:spPr>
          <a:xfrm>
            <a:off x="7461504" y="3063240"/>
            <a:ext cx="1188720" cy="640080"/>
          </a:xfrm>
          <a:prstGeom prst="roundRect">
            <a:avLst>
              <a:gd name="adj" fmla="val 11429"/>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2" name="Text 18"/>
          <p:cNvSpPr txBox="1"/>
          <p:nvPr/>
        </p:nvSpPr>
        <p:spPr>
          <a:xfrm>
            <a:off x="7461504" y="3063240"/>
            <a:ext cx="1188720" cy="640080"/>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4  </a:t>
            </a:r>
            <a:pPr algn="ctr" indent="0" marL="0">
              <a:buNone/>
            </a:pPr>
            <a:r>
              <a:rPr lang="en-US" sz="1100" dirty="0">
                <a:solidFill>
                  <a:srgbClr val="1E293B"/>
                </a:solidFill>
                <a:latin typeface="Calibri" pitchFamily="34" charset="0"/>
                <a:ea typeface="Calibri" pitchFamily="34" charset="-122"/>
                <a:cs typeface="Calibri" pitchFamily="34" charset="-120"/>
              </a:rPr>
              <a:t>Track</a:t>
            </a:r>
            <a:endParaRPr lang="en-US" sz="1100" dirty="0"/>
          </a:p>
        </p:txBody>
      </p:sp>
      <p:sp>
        <p:nvSpPr>
          <p:cNvPr id="23" name="Shape 19"/>
          <p:cNvSpPr/>
          <p:nvPr/>
        </p:nvSpPr>
        <p:spPr>
          <a:xfrm>
            <a:off x="3566160" y="3886200"/>
            <a:ext cx="5120640" cy="777240"/>
          </a:xfrm>
          <a:prstGeom prst="roundRect">
            <a:avLst>
              <a:gd name="adj" fmla="val 9412"/>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4" name="Text 20"/>
          <p:cNvSpPr txBox="1"/>
          <p:nvPr/>
        </p:nvSpPr>
        <p:spPr>
          <a:xfrm>
            <a:off x="3675888" y="3941064"/>
            <a:ext cx="4901184" cy="667512"/>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Delivery details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Each order shows courier, tracking ID and estimated arrival next to its status timeline.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16</a:t>
            </a:r>
            <a:endParaRPr lang="en-US" sz="850" dirty="0"/>
          </a:p>
        </p:txBody>
      </p:sp>
      <p:sp>
        <p:nvSpPr>
          <p:cNvPr id="4" name="Shape 2"/>
          <p:cNvSpPr/>
          <p:nvPr/>
        </p:nvSpPr>
        <p:spPr>
          <a:xfrm>
            <a:off x="457200" y="384048"/>
            <a:ext cx="1143000" cy="256032"/>
          </a:xfrm>
          <a:prstGeom prst="roundRect">
            <a:avLst>
              <a:gd name="adj" fmla="val 50000"/>
            </a:avLst>
          </a:prstGeom>
          <a:solidFill>
            <a:srgbClr val="DBEAFE"/>
          </a:solidFill>
          <a:ln w="12700">
            <a:solidFill>
              <a:srgbClr val="DBEAFE"/>
            </a:solidFill>
            <a:prstDash val="solid"/>
          </a:ln>
        </p:spPr>
      </p:sp>
      <p:sp>
        <p:nvSpPr>
          <p:cNvPr id="5" name="Text 3"/>
          <p:cNvSpPr txBox="1"/>
          <p:nvPr/>
        </p:nvSpPr>
        <p:spPr>
          <a:xfrm>
            <a:off x="457200" y="384048"/>
            <a:ext cx="1143000" cy="256032"/>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MODULE 10</a:t>
            </a:r>
            <a:endParaRPr lang="en-US" sz="950" dirty="0"/>
          </a:p>
        </p:txBody>
      </p:sp>
      <p:sp>
        <p:nvSpPr>
          <p:cNvPr id="6" name="Text 4"/>
          <p:cNvSpPr txBox="1"/>
          <p:nvPr/>
        </p:nvSpPr>
        <p:spPr>
          <a:xfrm>
            <a:off x="457200" y="749808"/>
            <a:ext cx="2926080" cy="868680"/>
          </a:xfrm>
          <a:prstGeom prst="rect">
            <a:avLst/>
          </a:prstGeom>
          <a:noFill/>
          <a:ln/>
        </p:spPr>
        <p:txBody>
          <a:bodyPr wrap="square" lIns="0" tIns="0" rIns="0" bIns="0" rtlCol="0" anchor="t"/>
          <a:lstStyle/>
          <a:p>
            <a:pPr indent="0" marL="0">
              <a:buNone/>
            </a:pPr>
            <a:r>
              <a:rPr lang="en-US" sz="2400" b="1" dirty="0">
                <a:solidFill>
                  <a:srgbClr val="0F172A"/>
                </a:solidFill>
                <a:latin typeface="Cambria" pitchFamily="34" charset="0"/>
                <a:ea typeface="Cambria" pitchFamily="34" charset="-122"/>
                <a:cs typeface="Cambria" pitchFamily="34" charset="-120"/>
              </a:rPr>
              <a:t>Users &amp; Profile</a:t>
            </a:r>
            <a:endParaRPr lang="en-US" sz="2400" dirty="0"/>
          </a:p>
        </p:txBody>
      </p:sp>
      <p:sp>
        <p:nvSpPr>
          <p:cNvPr id="7" name="Text 5"/>
          <p:cNvSpPr txBox="1"/>
          <p:nvPr/>
        </p:nvSpPr>
        <p:spPr>
          <a:xfrm>
            <a:off x="457200" y="1691640"/>
            <a:ext cx="2926080" cy="109728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Administers accounts and lets users maintain their own details. Password hashes are never returned by the API.</a:t>
            </a:r>
            <a:endParaRPr lang="en-US" sz="1150" dirty="0"/>
          </a:p>
        </p:txBody>
      </p:sp>
      <p:sp>
        <p:nvSpPr>
          <p:cNvPr id="8" name="Text 6"/>
          <p:cNvSpPr txBox="1"/>
          <p:nvPr/>
        </p:nvSpPr>
        <p:spPr>
          <a:xfrm>
            <a:off x="457200" y="2834640"/>
            <a:ext cx="2926080" cy="1874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Admin lists all users with role and status (FR-10.1)</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Activate / suspend accounts; suspended users cannot log in (FR-10.2)</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Users update name, e-mail, phone, address (FR-10.3)</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Username is read-only after registration</a:t>
            </a:r>
            <a:endParaRPr lang="en-US" sz="1050" dirty="0"/>
          </a:p>
        </p:txBody>
      </p:sp>
      <p:sp>
        <p:nvSpPr>
          <p:cNvPr id="9" name="Shape 7"/>
          <p:cNvSpPr/>
          <p:nvPr/>
        </p:nvSpPr>
        <p:spPr>
          <a:xfrm>
            <a:off x="3529584" y="374904"/>
            <a:ext cx="3024554" cy="1901952"/>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0" name="Image 0" descr="/mnt/user-data/uploads/1000262972.png">    </p:cNvPr>
          <p:cNvPicPr>
            <a:picLocks noChangeAspect="1"/>
          </p:cNvPicPr>
          <p:nvPr/>
        </p:nvPicPr>
        <p:blipFill>
          <a:blip r:embed="rId1"/>
          <a:stretch>
            <a:fillRect/>
          </a:stretch>
        </p:blipFill>
        <p:spPr>
          <a:xfrm>
            <a:off x="3566160" y="411480"/>
            <a:ext cx="2951402" cy="1828800"/>
          </a:xfrm>
          <a:prstGeom prst="rect">
            <a:avLst/>
          </a:prstGeom>
        </p:spPr>
      </p:pic>
      <p:sp>
        <p:nvSpPr>
          <p:cNvPr id="11" name="Text 8"/>
          <p:cNvSpPr txBox="1"/>
          <p:nvPr/>
        </p:nvSpPr>
        <p:spPr>
          <a:xfrm>
            <a:off x="3529584" y="2295144"/>
            <a:ext cx="3024554"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User Administration (admin)</a:t>
            </a:r>
            <a:endParaRPr lang="en-US" sz="900" dirty="0"/>
          </a:p>
        </p:txBody>
      </p:sp>
      <p:sp>
        <p:nvSpPr>
          <p:cNvPr id="12" name="Shape 9"/>
          <p:cNvSpPr/>
          <p:nvPr/>
        </p:nvSpPr>
        <p:spPr>
          <a:xfrm>
            <a:off x="6663866" y="374904"/>
            <a:ext cx="2214259" cy="1901952"/>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3" name="Image 1" descr="/mnt/user-data/uploads/1000263011.png">    </p:cNvPr>
          <p:cNvPicPr>
            <a:picLocks noChangeAspect="1"/>
          </p:cNvPicPr>
          <p:nvPr/>
        </p:nvPicPr>
        <p:blipFill>
          <a:blip r:embed="rId2"/>
          <a:stretch>
            <a:fillRect/>
          </a:stretch>
        </p:blipFill>
        <p:spPr>
          <a:xfrm>
            <a:off x="6700442" y="411480"/>
            <a:ext cx="2141107" cy="1828800"/>
          </a:xfrm>
          <a:prstGeom prst="rect">
            <a:avLst/>
          </a:prstGeom>
        </p:spPr>
      </p:pic>
      <p:sp>
        <p:nvSpPr>
          <p:cNvPr id="14" name="Text 10"/>
          <p:cNvSpPr txBox="1"/>
          <p:nvPr/>
        </p:nvSpPr>
        <p:spPr>
          <a:xfrm>
            <a:off x="6663866" y="2295144"/>
            <a:ext cx="2214259"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User Profile</a:t>
            </a:r>
            <a:endParaRPr lang="en-US" sz="900" dirty="0"/>
          </a:p>
        </p:txBody>
      </p:sp>
      <p:sp>
        <p:nvSpPr>
          <p:cNvPr id="15" name="Shape 11"/>
          <p:cNvSpPr/>
          <p:nvPr/>
        </p:nvSpPr>
        <p:spPr>
          <a:xfrm>
            <a:off x="3566160" y="2788920"/>
            <a:ext cx="2468880" cy="1371600"/>
          </a:xfrm>
          <a:prstGeom prst="roundRect">
            <a:avLst>
              <a:gd name="adj" fmla="val 533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6" name="Text 12"/>
          <p:cNvSpPr txBox="1"/>
          <p:nvPr/>
        </p:nvSpPr>
        <p:spPr>
          <a:xfrm>
            <a:off x="3675888" y="2843784"/>
            <a:ext cx="2249424" cy="1261872"/>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Admin controls</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Search by name or e-mail, view ROLE_ADMIN / ROLE_USER / ROLE_CUSTOMER, and toggle ACTIVE or SUSPENDED with one click.</a:t>
            </a:r>
            <a:endParaRPr lang="en-US" sz="1000" dirty="0"/>
          </a:p>
        </p:txBody>
      </p:sp>
      <p:sp>
        <p:nvSpPr>
          <p:cNvPr id="17" name="Shape 13"/>
          <p:cNvSpPr/>
          <p:nvPr/>
        </p:nvSpPr>
        <p:spPr>
          <a:xfrm>
            <a:off x="6217920" y="2788920"/>
            <a:ext cx="2468880" cy="1371600"/>
          </a:xfrm>
          <a:prstGeom prst="roundRect">
            <a:avLst>
              <a:gd name="adj" fmla="val 5333"/>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8" name="Text 14"/>
          <p:cNvSpPr txBox="1"/>
          <p:nvPr/>
        </p:nvSpPr>
        <p:spPr>
          <a:xfrm>
            <a:off x="6327648" y="2843784"/>
            <a:ext cx="2249424" cy="1261872"/>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Self-service</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Every user edits their own profile; changes are saved to the users table via an authenticated call.</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17</a:t>
            </a:r>
            <a:endParaRPr lang="en-US" sz="850" dirty="0"/>
          </a:p>
        </p:txBody>
      </p:sp>
      <p:sp>
        <p:nvSpPr>
          <p:cNvPr id="4" name="Shape 2"/>
          <p:cNvSpPr/>
          <p:nvPr/>
        </p:nvSpPr>
        <p:spPr>
          <a:xfrm>
            <a:off x="457200" y="384048"/>
            <a:ext cx="1143000" cy="256032"/>
          </a:xfrm>
          <a:prstGeom prst="roundRect">
            <a:avLst>
              <a:gd name="adj" fmla="val 50000"/>
            </a:avLst>
          </a:prstGeom>
          <a:solidFill>
            <a:srgbClr val="DBEAFE"/>
          </a:solidFill>
          <a:ln w="12700">
            <a:solidFill>
              <a:srgbClr val="DBEAFE"/>
            </a:solidFill>
            <a:prstDash val="solid"/>
          </a:ln>
        </p:spPr>
      </p:sp>
      <p:sp>
        <p:nvSpPr>
          <p:cNvPr id="5" name="Text 3"/>
          <p:cNvSpPr txBox="1"/>
          <p:nvPr/>
        </p:nvSpPr>
        <p:spPr>
          <a:xfrm>
            <a:off x="457200" y="384048"/>
            <a:ext cx="1143000" cy="256032"/>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MODULE 11</a:t>
            </a:r>
            <a:endParaRPr lang="en-US" sz="950" dirty="0"/>
          </a:p>
        </p:txBody>
      </p:sp>
      <p:sp>
        <p:nvSpPr>
          <p:cNvPr id="6" name="Text 4"/>
          <p:cNvSpPr txBox="1"/>
          <p:nvPr/>
        </p:nvSpPr>
        <p:spPr>
          <a:xfrm>
            <a:off x="457200" y="749808"/>
            <a:ext cx="2926080" cy="868680"/>
          </a:xfrm>
          <a:prstGeom prst="rect">
            <a:avLst/>
          </a:prstGeom>
          <a:noFill/>
          <a:ln/>
        </p:spPr>
        <p:txBody>
          <a:bodyPr wrap="square" lIns="0" tIns="0" rIns="0" bIns="0" rtlCol="0" anchor="t"/>
          <a:lstStyle/>
          <a:p>
            <a:pPr indent="0" marL="0">
              <a:buNone/>
            </a:pPr>
            <a:r>
              <a:rPr lang="en-US" sz="2400" b="1" dirty="0">
                <a:solidFill>
                  <a:srgbClr val="0F172A"/>
                </a:solidFill>
                <a:latin typeface="Cambria" pitchFamily="34" charset="0"/>
                <a:ea typeface="Cambria" pitchFamily="34" charset="-122"/>
                <a:cs typeface="Cambria" pitchFamily="34" charset="-120"/>
              </a:rPr>
              <a:t>Reports &amp; Notifications</a:t>
            </a:r>
            <a:endParaRPr lang="en-US" sz="2400" dirty="0"/>
          </a:p>
        </p:txBody>
      </p:sp>
      <p:sp>
        <p:nvSpPr>
          <p:cNvPr id="7" name="Text 5"/>
          <p:cNvSpPr txBox="1"/>
          <p:nvPr/>
        </p:nvSpPr>
        <p:spPr>
          <a:xfrm>
            <a:off x="457200" y="1691640"/>
            <a:ext cx="2926080" cy="109728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Supports monitoring and decisions. Two endpoints produce downloadable CSV files, and event notifications are stored per user and can be marked as read.</a:t>
            </a:r>
            <a:endParaRPr lang="en-US" sz="1150" dirty="0"/>
          </a:p>
        </p:txBody>
      </p:sp>
      <p:sp>
        <p:nvSpPr>
          <p:cNvPr id="8" name="Text 6"/>
          <p:cNvSpPr txBox="1"/>
          <p:nvPr/>
        </p:nvSpPr>
        <p:spPr>
          <a:xfrm>
            <a:off x="457200" y="2834640"/>
            <a:ext cx="2926080" cy="1874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Inventory CSV: ID, SKU, name, category, prices (FR-11.1)</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Sales CSV: order ID, date, status, total (FR-11.2)</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Notifications per user, mark as read (FR-11.3)</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Events: low stock, new order, status change, PO</a:t>
            </a:r>
            <a:endParaRPr lang="en-US" sz="1050" dirty="0"/>
          </a:p>
        </p:txBody>
      </p:sp>
      <p:sp>
        <p:nvSpPr>
          <p:cNvPr id="9" name="Shape 7"/>
          <p:cNvSpPr/>
          <p:nvPr/>
        </p:nvSpPr>
        <p:spPr>
          <a:xfrm>
            <a:off x="3529584" y="420624"/>
            <a:ext cx="5193792" cy="1628238"/>
          </a:xfrm>
          <a:prstGeom prst="rect">
            <a:avLst/>
          </a:prstGeom>
          <a:solidFill>
            <a:srgbClr val="FFFFFF"/>
          </a:solidFill>
          <a:ln w="9525">
            <a:solidFill>
              <a:srgbClr val="CBD5E1"/>
            </a:solidFill>
            <a:prstDash val="solid"/>
          </a:ln>
          <a:effectLst>
            <a:outerShdw sx="100000" sy="100000" kx="0" ky="0" algn="bl" rotWithShape="0" blurRad="76200" dist="25400" dir="5400000">
              <a:srgbClr val="000000">
                <a:alpha val="15000"/>
              </a:srgbClr>
            </a:outerShdw>
          </a:effectLst>
        </p:spPr>
      </p:sp>
      <p:pic>
        <p:nvPicPr>
          <p:cNvPr id="10" name="Image 0" descr="/mnt/user-data/uploads/1000262984.png">    </p:cNvPr>
          <p:cNvPicPr>
            <a:picLocks noChangeAspect="1"/>
          </p:cNvPicPr>
          <p:nvPr/>
        </p:nvPicPr>
        <p:blipFill>
          <a:blip r:embed="rId1"/>
          <a:stretch>
            <a:fillRect/>
          </a:stretch>
        </p:blipFill>
        <p:spPr>
          <a:xfrm>
            <a:off x="3566160" y="457200"/>
            <a:ext cx="5120640" cy="1555086"/>
          </a:xfrm>
          <a:prstGeom prst="rect">
            <a:avLst/>
          </a:prstGeom>
        </p:spPr>
      </p:pic>
      <p:sp>
        <p:nvSpPr>
          <p:cNvPr id="11" name="Text 8"/>
          <p:cNvSpPr txBox="1"/>
          <p:nvPr/>
        </p:nvSpPr>
        <p:spPr>
          <a:xfrm>
            <a:off x="3529584" y="2067150"/>
            <a:ext cx="5193792"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Business Reports: one-click CSV export</a:t>
            </a:r>
            <a:endParaRPr lang="en-US" sz="900" dirty="0"/>
          </a:p>
        </p:txBody>
      </p:sp>
      <p:sp>
        <p:nvSpPr>
          <p:cNvPr id="12" name="Shape 9"/>
          <p:cNvSpPr/>
          <p:nvPr/>
        </p:nvSpPr>
        <p:spPr>
          <a:xfrm>
            <a:off x="3566160" y="2834640"/>
            <a:ext cx="2468880" cy="914400"/>
          </a:xfrm>
          <a:prstGeom prst="roundRect">
            <a:avLst>
              <a:gd name="adj" fmla="val 8000"/>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3" name="Text 10"/>
          <p:cNvSpPr txBox="1"/>
          <p:nvPr/>
        </p:nvSpPr>
        <p:spPr>
          <a:xfrm>
            <a:off x="3675888" y="2889504"/>
            <a:ext cx="2249424" cy="804672"/>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GET /api/reports/inventory/csv</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Downloads inventory_report.csv for accounting and analytics.</a:t>
            </a:r>
            <a:endParaRPr lang="en-US" sz="1000" dirty="0"/>
          </a:p>
        </p:txBody>
      </p:sp>
      <p:sp>
        <p:nvSpPr>
          <p:cNvPr id="14" name="Shape 11"/>
          <p:cNvSpPr/>
          <p:nvPr/>
        </p:nvSpPr>
        <p:spPr>
          <a:xfrm>
            <a:off x="6217920" y="2834640"/>
            <a:ext cx="2468880" cy="914400"/>
          </a:xfrm>
          <a:prstGeom prst="roundRect">
            <a:avLst>
              <a:gd name="adj" fmla="val 8000"/>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5" name="Text 12"/>
          <p:cNvSpPr txBox="1"/>
          <p:nvPr/>
        </p:nvSpPr>
        <p:spPr>
          <a:xfrm>
            <a:off x="6327648" y="2889504"/>
            <a:ext cx="2249424" cy="804672"/>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GET /api/reports/sales/csv</a:t>
            </a: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Downloads sales_report.csv with historical orders and revenue.</a:t>
            </a:r>
            <a:endParaRPr lang="en-US" sz="1000" dirty="0"/>
          </a:p>
        </p:txBody>
      </p:sp>
      <p:sp>
        <p:nvSpPr>
          <p:cNvPr id="16" name="Shape 13"/>
          <p:cNvSpPr/>
          <p:nvPr/>
        </p:nvSpPr>
        <p:spPr>
          <a:xfrm>
            <a:off x="3566160" y="3977640"/>
            <a:ext cx="1188720" cy="365760"/>
          </a:xfrm>
          <a:prstGeom prst="roundRect">
            <a:avLst>
              <a:gd name="adj" fmla="val 50000"/>
            </a:avLst>
          </a:prstGeom>
          <a:solidFill>
            <a:srgbClr val="DBEAFE"/>
          </a:solidFill>
          <a:ln w="12700">
            <a:solidFill>
              <a:srgbClr val="DBEAFE"/>
            </a:solidFill>
            <a:prstDash val="solid"/>
          </a:ln>
        </p:spPr>
      </p:sp>
      <p:sp>
        <p:nvSpPr>
          <p:cNvPr id="17" name="Text 14"/>
          <p:cNvSpPr txBox="1"/>
          <p:nvPr/>
        </p:nvSpPr>
        <p:spPr>
          <a:xfrm>
            <a:off x="3566160" y="3977640"/>
            <a:ext cx="1188720" cy="36576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Low stock</a:t>
            </a:r>
            <a:endParaRPr lang="en-US" sz="1000" dirty="0"/>
          </a:p>
        </p:txBody>
      </p:sp>
      <p:sp>
        <p:nvSpPr>
          <p:cNvPr id="18" name="Shape 15"/>
          <p:cNvSpPr/>
          <p:nvPr/>
        </p:nvSpPr>
        <p:spPr>
          <a:xfrm>
            <a:off x="4864608" y="3977640"/>
            <a:ext cx="1188720" cy="365760"/>
          </a:xfrm>
          <a:prstGeom prst="roundRect">
            <a:avLst>
              <a:gd name="adj" fmla="val 50000"/>
            </a:avLst>
          </a:prstGeom>
          <a:solidFill>
            <a:srgbClr val="DBEAFE"/>
          </a:solidFill>
          <a:ln w="12700">
            <a:solidFill>
              <a:srgbClr val="DBEAFE"/>
            </a:solidFill>
            <a:prstDash val="solid"/>
          </a:ln>
        </p:spPr>
      </p:sp>
      <p:sp>
        <p:nvSpPr>
          <p:cNvPr id="19" name="Text 16"/>
          <p:cNvSpPr txBox="1"/>
          <p:nvPr/>
        </p:nvSpPr>
        <p:spPr>
          <a:xfrm>
            <a:off x="4864608" y="3977640"/>
            <a:ext cx="1188720" cy="36576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New order</a:t>
            </a:r>
            <a:endParaRPr lang="en-US" sz="1000" dirty="0"/>
          </a:p>
        </p:txBody>
      </p:sp>
      <p:sp>
        <p:nvSpPr>
          <p:cNvPr id="20" name="Shape 17"/>
          <p:cNvSpPr/>
          <p:nvPr/>
        </p:nvSpPr>
        <p:spPr>
          <a:xfrm>
            <a:off x="6163056" y="3977640"/>
            <a:ext cx="1188720" cy="365760"/>
          </a:xfrm>
          <a:prstGeom prst="roundRect">
            <a:avLst>
              <a:gd name="adj" fmla="val 50000"/>
            </a:avLst>
          </a:prstGeom>
          <a:solidFill>
            <a:srgbClr val="DBEAFE"/>
          </a:solidFill>
          <a:ln w="12700">
            <a:solidFill>
              <a:srgbClr val="DBEAFE"/>
            </a:solidFill>
            <a:prstDash val="solid"/>
          </a:ln>
        </p:spPr>
      </p:sp>
      <p:sp>
        <p:nvSpPr>
          <p:cNvPr id="21" name="Text 18"/>
          <p:cNvSpPr txBox="1"/>
          <p:nvPr/>
        </p:nvSpPr>
        <p:spPr>
          <a:xfrm>
            <a:off x="6163056" y="3977640"/>
            <a:ext cx="1188720" cy="36576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Status change</a:t>
            </a:r>
            <a:endParaRPr lang="en-US" sz="1000" dirty="0"/>
          </a:p>
        </p:txBody>
      </p:sp>
      <p:sp>
        <p:nvSpPr>
          <p:cNvPr id="22" name="Shape 19"/>
          <p:cNvSpPr/>
          <p:nvPr/>
        </p:nvSpPr>
        <p:spPr>
          <a:xfrm>
            <a:off x="7461504" y="3977640"/>
            <a:ext cx="1188720" cy="365760"/>
          </a:xfrm>
          <a:prstGeom prst="roundRect">
            <a:avLst>
              <a:gd name="adj" fmla="val 50000"/>
            </a:avLst>
          </a:prstGeom>
          <a:solidFill>
            <a:srgbClr val="DBEAFE"/>
          </a:solidFill>
          <a:ln w="12700">
            <a:solidFill>
              <a:srgbClr val="DBEAFE"/>
            </a:solidFill>
            <a:prstDash val="solid"/>
          </a:ln>
        </p:spPr>
      </p:sp>
      <p:sp>
        <p:nvSpPr>
          <p:cNvPr id="23" name="Text 20"/>
          <p:cNvSpPr txBox="1"/>
          <p:nvPr/>
        </p:nvSpPr>
        <p:spPr>
          <a:xfrm>
            <a:off x="7461504" y="3977640"/>
            <a:ext cx="1188720" cy="36576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PO events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457200" y="4818888"/>
            <a:ext cx="45720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Retail Inventory Management System  |  Shopluxe</a:t>
            </a:r>
            <a:endParaRPr lang="en-US" sz="850" dirty="0"/>
          </a:p>
        </p:txBody>
      </p:sp>
      <p:sp>
        <p:nvSpPr>
          <p:cNvPr id="3" name="Text 1"/>
          <p:cNvSpPr txBox="1"/>
          <p:nvPr/>
        </p:nvSpPr>
        <p:spPr>
          <a:xfrm>
            <a:off x="8229600" y="4818888"/>
            <a:ext cx="457200" cy="201168"/>
          </a:xfrm>
          <a:prstGeom prst="rect">
            <a:avLst/>
          </a:prstGeom>
          <a:noFill/>
          <a:ln/>
        </p:spPr>
        <p:txBody>
          <a:bodyPr wrap="square" lIns="0" tIns="0" rIns="0" bIns="0" rtlCol="0" anchor="ctr"/>
          <a:lstStyle/>
          <a:p>
            <a:pPr algn="r" indent="0" marL="0">
              <a:buNone/>
            </a:pPr>
            <a:r>
              <a:rPr lang="en-US" sz="850" dirty="0">
                <a:solidFill>
                  <a:srgbClr val="64748B"/>
                </a:solidFill>
                <a:latin typeface="Calibri" pitchFamily="34" charset="0"/>
                <a:ea typeface="Calibri" pitchFamily="34" charset="-122"/>
                <a:cs typeface="Calibri" pitchFamily="34" charset="-120"/>
              </a:rPr>
              <a:t>18</a:t>
            </a:r>
            <a:endParaRPr lang="en-US" sz="850" dirty="0"/>
          </a:p>
        </p:txBody>
      </p:sp>
      <p:sp>
        <p:nvSpPr>
          <p:cNvPr id="4" name="Text 2"/>
          <p:cNvSpPr txBox="1"/>
          <p:nvPr/>
        </p:nvSpPr>
        <p:spPr>
          <a:xfrm>
            <a:off x="457200" y="365760"/>
            <a:ext cx="8229600" cy="548640"/>
          </a:xfrm>
          <a:prstGeom prst="rect">
            <a:avLst/>
          </a:prstGeom>
          <a:noFill/>
          <a:ln/>
        </p:spPr>
        <p:txBody>
          <a:bodyPr wrap="square" lIns="0" tIns="0" rIns="0" bIns="0" rtlCol="0" anchor="ctr"/>
          <a:lstStyle/>
          <a:p>
            <a:pPr indent="0" marL="0">
              <a:buNone/>
            </a:pPr>
            <a:r>
              <a:rPr lang="en-US" sz="3200" b="1" dirty="0">
                <a:solidFill>
                  <a:srgbClr val="0F172A"/>
                </a:solidFill>
                <a:latin typeface="Cambria" pitchFamily="34" charset="0"/>
                <a:ea typeface="Cambria" pitchFamily="34" charset="-122"/>
                <a:cs typeface="Cambria" pitchFamily="34" charset="-120"/>
              </a:rPr>
              <a:t>How the Modules Work Together</a:t>
            </a:r>
            <a:endParaRPr lang="en-US" sz="32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One shared database keeps every role looking at the same numbers.</a:t>
            </a:r>
            <a:endParaRPr lang="en-US" sz="1300" dirty="0"/>
          </a:p>
        </p:txBody>
      </p:sp>
      <p:sp>
        <p:nvSpPr>
          <p:cNvPr id="6" name="Shape 4"/>
          <p:cNvSpPr/>
          <p:nvPr/>
        </p:nvSpPr>
        <p:spPr>
          <a:xfrm>
            <a:off x="457200" y="1600200"/>
            <a:ext cx="1280160" cy="2468880"/>
          </a:xfrm>
          <a:prstGeom prst="roundRect">
            <a:avLst>
              <a:gd name="adj" fmla="val 571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7" name="Shape 5"/>
          <p:cNvSpPr/>
          <p:nvPr/>
        </p:nvSpPr>
        <p:spPr>
          <a:xfrm>
            <a:off x="868680" y="1737360"/>
            <a:ext cx="457200" cy="457200"/>
          </a:xfrm>
          <a:prstGeom prst="ellipse">
            <a:avLst/>
          </a:prstGeom>
          <a:solidFill>
            <a:srgbClr val="2563EB"/>
          </a:solidFill>
          <a:ln w="12700">
            <a:solidFill>
              <a:srgbClr val="FFFFFF"/>
            </a:solidFill>
            <a:prstDash val="solid"/>
          </a:ln>
        </p:spPr>
      </p:sp>
      <p:sp>
        <p:nvSpPr>
          <p:cNvPr id="8" name="Text 6"/>
          <p:cNvSpPr txBox="1"/>
          <p:nvPr/>
        </p:nvSpPr>
        <p:spPr>
          <a:xfrm>
            <a:off x="8686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530352" y="2286000"/>
            <a:ext cx="1133856" cy="320040"/>
          </a:xfrm>
          <a:prstGeom prst="rect">
            <a:avLst/>
          </a:prstGeom>
          <a:noFill/>
          <a:ln/>
        </p:spPr>
        <p:txBody>
          <a:bodyPr wrap="square" lIns="0" tIns="0" rIns="0" bIns="0" rtlCol="0" anchor="ctr"/>
          <a:lstStyle/>
          <a:p>
            <a:pPr algn="ctr" indent="0" marL="0">
              <a:buNone/>
            </a:pPr>
            <a:r>
              <a:rPr lang="en-US" sz="1350" b="1" dirty="0">
                <a:solidFill>
                  <a:srgbClr val="0F172A"/>
                </a:solidFill>
                <a:latin typeface="Cambria" pitchFamily="34" charset="0"/>
                <a:ea typeface="Cambria" pitchFamily="34" charset="-122"/>
                <a:cs typeface="Cambria" pitchFamily="34" charset="-120"/>
              </a:rPr>
              <a:t>Replenish</a:t>
            </a:r>
            <a:endParaRPr lang="en-US" sz="1350" dirty="0"/>
          </a:p>
        </p:txBody>
      </p:sp>
      <p:sp>
        <p:nvSpPr>
          <p:cNvPr id="10" name="Text 8"/>
          <p:cNvSpPr txBox="1"/>
          <p:nvPr/>
        </p:nvSpPr>
        <p:spPr>
          <a:xfrm>
            <a:off x="548640" y="2651760"/>
            <a:ext cx="1097280" cy="1051560"/>
          </a:xfrm>
          <a:prstGeom prst="rect">
            <a:avLst/>
          </a:prstGeom>
          <a:noFill/>
          <a:ln/>
        </p:spPr>
        <p:txBody>
          <a:bodyPr wrap="square" lIns="0" tIns="0" rIns="0" bIns="0"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Admin raises a PO; supplier accepts it</a:t>
            </a:r>
            <a:endParaRPr lang="en-US" sz="1000" dirty="0"/>
          </a:p>
        </p:txBody>
      </p:sp>
      <p:sp>
        <p:nvSpPr>
          <p:cNvPr id="11" name="Text 9"/>
          <p:cNvSpPr txBox="1"/>
          <p:nvPr/>
        </p:nvSpPr>
        <p:spPr>
          <a:xfrm>
            <a:off x="548640" y="3749040"/>
            <a:ext cx="1097280" cy="228600"/>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M7, M8</a:t>
            </a:r>
            <a:endParaRPr lang="en-US" sz="900" dirty="0"/>
          </a:p>
        </p:txBody>
      </p:sp>
      <p:sp>
        <p:nvSpPr>
          <p:cNvPr id="12" name="Shape 10"/>
          <p:cNvSpPr/>
          <p:nvPr/>
        </p:nvSpPr>
        <p:spPr>
          <a:xfrm>
            <a:off x="1828800" y="1600200"/>
            <a:ext cx="1280160" cy="2468880"/>
          </a:xfrm>
          <a:prstGeom prst="roundRect">
            <a:avLst>
              <a:gd name="adj" fmla="val 571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3" name="Shape 11"/>
          <p:cNvSpPr/>
          <p:nvPr/>
        </p:nvSpPr>
        <p:spPr>
          <a:xfrm>
            <a:off x="2240280" y="1737360"/>
            <a:ext cx="457200" cy="457200"/>
          </a:xfrm>
          <a:prstGeom prst="ellipse">
            <a:avLst/>
          </a:prstGeom>
          <a:solidFill>
            <a:srgbClr val="2563EB"/>
          </a:solidFill>
          <a:ln w="12700">
            <a:solidFill>
              <a:srgbClr val="FFFFFF"/>
            </a:solidFill>
            <a:prstDash val="solid"/>
          </a:ln>
        </p:spPr>
      </p:sp>
      <p:sp>
        <p:nvSpPr>
          <p:cNvPr id="14" name="Text 12"/>
          <p:cNvSpPr txBox="1"/>
          <p:nvPr/>
        </p:nvSpPr>
        <p:spPr>
          <a:xfrm>
            <a:off x="22402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1901952" y="2286000"/>
            <a:ext cx="1133856" cy="320040"/>
          </a:xfrm>
          <a:prstGeom prst="rect">
            <a:avLst/>
          </a:prstGeom>
          <a:noFill/>
          <a:ln/>
        </p:spPr>
        <p:txBody>
          <a:bodyPr wrap="square" lIns="0" tIns="0" rIns="0" bIns="0" rtlCol="0" anchor="ctr"/>
          <a:lstStyle/>
          <a:p>
            <a:pPr algn="ctr" indent="0" marL="0">
              <a:buNone/>
            </a:pPr>
            <a:r>
              <a:rPr lang="en-US" sz="1350" b="1" dirty="0">
                <a:solidFill>
                  <a:srgbClr val="0F172A"/>
                </a:solidFill>
                <a:latin typeface="Cambria" pitchFamily="34" charset="0"/>
                <a:ea typeface="Cambria" pitchFamily="34" charset="-122"/>
                <a:cs typeface="Cambria" pitchFamily="34" charset="-120"/>
              </a:rPr>
              <a:t>Receive</a:t>
            </a:r>
            <a:endParaRPr lang="en-US" sz="1350" dirty="0"/>
          </a:p>
        </p:txBody>
      </p:sp>
      <p:sp>
        <p:nvSpPr>
          <p:cNvPr id="16" name="Text 14"/>
          <p:cNvSpPr txBox="1"/>
          <p:nvPr/>
        </p:nvSpPr>
        <p:spPr>
          <a:xfrm>
            <a:off x="1920240" y="2651760"/>
            <a:ext cx="1097280" cy="1051560"/>
          </a:xfrm>
          <a:prstGeom prst="rect">
            <a:avLst/>
          </a:prstGeom>
          <a:noFill/>
          <a:ln/>
        </p:spPr>
        <p:txBody>
          <a:bodyPr wrap="square" lIns="0" tIns="0" rIns="0" bIns="0"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PO marked Received; stock-in to a warehouse</a:t>
            </a:r>
            <a:endParaRPr lang="en-US" sz="1000" dirty="0"/>
          </a:p>
        </p:txBody>
      </p:sp>
      <p:sp>
        <p:nvSpPr>
          <p:cNvPr id="17" name="Text 15"/>
          <p:cNvSpPr txBox="1"/>
          <p:nvPr/>
        </p:nvSpPr>
        <p:spPr>
          <a:xfrm>
            <a:off x="1920240" y="3749040"/>
            <a:ext cx="1097280" cy="228600"/>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M4, M7</a:t>
            </a:r>
            <a:endParaRPr lang="en-US" sz="900" dirty="0"/>
          </a:p>
        </p:txBody>
      </p:sp>
      <p:sp>
        <p:nvSpPr>
          <p:cNvPr id="18" name="Shape 16"/>
          <p:cNvSpPr/>
          <p:nvPr/>
        </p:nvSpPr>
        <p:spPr>
          <a:xfrm>
            <a:off x="3200400" y="1600200"/>
            <a:ext cx="1280160" cy="2468880"/>
          </a:xfrm>
          <a:prstGeom prst="roundRect">
            <a:avLst>
              <a:gd name="adj" fmla="val 571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19" name="Shape 17"/>
          <p:cNvSpPr/>
          <p:nvPr/>
        </p:nvSpPr>
        <p:spPr>
          <a:xfrm>
            <a:off x="3611880" y="1737360"/>
            <a:ext cx="457200" cy="457200"/>
          </a:xfrm>
          <a:prstGeom prst="ellipse">
            <a:avLst/>
          </a:prstGeom>
          <a:solidFill>
            <a:srgbClr val="2563EB"/>
          </a:solidFill>
          <a:ln w="12700">
            <a:solidFill>
              <a:srgbClr val="FFFFFF"/>
            </a:solidFill>
            <a:prstDash val="solid"/>
          </a:ln>
        </p:spPr>
      </p:sp>
      <p:sp>
        <p:nvSpPr>
          <p:cNvPr id="20" name="Text 18"/>
          <p:cNvSpPr txBox="1"/>
          <p:nvPr/>
        </p:nvSpPr>
        <p:spPr>
          <a:xfrm>
            <a:off x="36118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txBox="1"/>
          <p:nvPr/>
        </p:nvSpPr>
        <p:spPr>
          <a:xfrm>
            <a:off x="3273552" y="2286000"/>
            <a:ext cx="1133856" cy="320040"/>
          </a:xfrm>
          <a:prstGeom prst="rect">
            <a:avLst/>
          </a:prstGeom>
          <a:noFill/>
          <a:ln/>
        </p:spPr>
        <p:txBody>
          <a:bodyPr wrap="square" lIns="0" tIns="0" rIns="0" bIns="0" rtlCol="0" anchor="ctr"/>
          <a:lstStyle/>
          <a:p>
            <a:pPr algn="ctr" indent="0" marL="0">
              <a:buNone/>
            </a:pPr>
            <a:r>
              <a:rPr lang="en-US" sz="1350" b="1" dirty="0">
                <a:solidFill>
                  <a:srgbClr val="0F172A"/>
                </a:solidFill>
                <a:latin typeface="Cambria" pitchFamily="34" charset="0"/>
                <a:ea typeface="Cambria" pitchFamily="34" charset="-122"/>
                <a:cs typeface="Cambria" pitchFamily="34" charset="-120"/>
              </a:rPr>
              <a:t>Sell</a:t>
            </a:r>
            <a:endParaRPr lang="en-US" sz="1350" dirty="0"/>
          </a:p>
        </p:txBody>
      </p:sp>
      <p:sp>
        <p:nvSpPr>
          <p:cNvPr id="22" name="Text 20"/>
          <p:cNvSpPr txBox="1"/>
          <p:nvPr/>
        </p:nvSpPr>
        <p:spPr>
          <a:xfrm>
            <a:off x="3291840" y="2651760"/>
            <a:ext cx="1097280" cy="1051560"/>
          </a:xfrm>
          <a:prstGeom prst="rect">
            <a:avLst/>
          </a:prstGeom>
          <a:noFill/>
          <a:ln/>
        </p:spPr>
        <p:txBody>
          <a:bodyPr wrap="square" lIns="0" tIns="0" rIns="0" bIns="0"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Customer browses, fills cart, places order</a:t>
            </a:r>
            <a:endParaRPr lang="en-US" sz="1000" dirty="0"/>
          </a:p>
        </p:txBody>
      </p:sp>
      <p:sp>
        <p:nvSpPr>
          <p:cNvPr id="23" name="Text 21"/>
          <p:cNvSpPr txBox="1"/>
          <p:nvPr/>
        </p:nvSpPr>
        <p:spPr>
          <a:xfrm>
            <a:off x="3291840" y="3749040"/>
            <a:ext cx="1097280" cy="228600"/>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M3, M9</a:t>
            </a:r>
            <a:endParaRPr lang="en-US" sz="900" dirty="0"/>
          </a:p>
        </p:txBody>
      </p:sp>
      <p:sp>
        <p:nvSpPr>
          <p:cNvPr id="24" name="Shape 22"/>
          <p:cNvSpPr/>
          <p:nvPr/>
        </p:nvSpPr>
        <p:spPr>
          <a:xfrm>
            <a:off x="4572000" y="1600200"/>
            <a:ext cx="1280160" cy="2468880"/>
          </a:xfrm>
          <a:prstGeom prst="roundRect">
            <a:avLst>
              <a:gd name="adj" fmla="val 571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25" name="Shape 23"/>
          <p:cNvSpPr/>
          <p:nvPr/>
        </p:nvSpPr>
        <p:spPr>
          <a:xfrm>
            <a:off x="4983480" y="1737360"/>
            <a:ext cx="457200" cy="457200"/>
          </a:xfrm>
          <a:prstGeom prst="ellipse">
            <a:avLst/>
          </a:prstGeom>
          <a:solidFill>
            <a:srgbClr val="2563EB"/>
          </a:solidFill>
          <a:ln w="12700">
            <a:solidFill>
              <a:srgbClr val="FFFFFF"/>
            </a:solidFill>
            <a:prstDash val="solid"/>
          </a:ln>
        </p:spPr>
      </p:sp>
      <p:sp>
        <p:nvSpPr>
          <p:cNvPr id="26" name="Text 24"/>
          <p:cNvSpPr txBox="1"/>
          <p:nvPr/>
        </p:nvSpPr>
        <p:spPr>
          <a:xfrm>
            <a:off x="49834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7" name="Text 25"/>
          <p:cNvSpPr txBox="1"/>
          <p:nvPr/>
        </p:nvSpPr>
        <p:spPr>
          <a:xfrm>
            <a:off x="4645152" y="2286000"/>
            <a:ext cx="1133856" cy="320040"/>
          </a:xfrm>
          <a:prstGeom prst="rect">
            <a:avLst/>
          </a:prstGeom>
          <a:noFill/>
          <a:ln/>
        </p:spPr>
        <p:txBody>
          <a:bodyPr wrap="square" lIns="0" tIns="0" rIns="0" bIns="0" rtlCol="0" anchor="ctr"/>
          <a:lstStyle/>
          <a:p>
            <a:pPr algn="ctr" indent="0" marL="0">
              <a:buNone/>
            </a:pPr>
            <a:r>
              <a:rPr lang="en-US" sz="1350" b="1" dirty="0">
                <a:solidFill>
                  <a:srgbClr val="0F172A"/>
                </a:solidFill>
                <a:latin typeface="Cambria" pitchFamily="34" charset="0"/>
                <a:ea typeface="Cambria" pitchFamily="34" charset="-122"/>
                <a:cs typeface="Cambria" pitchFamily="34" charset="-120"/>
              </a:rPr>
              <a:t>Reserve</a:t>
            </a:r>
            <a:endParaRPr lang="en-US" sz="1350" dirty="0"/>
          </a:p>
        </p:txBody>
      </p:sp>
      <p:sp>
        <p:nvSpPr>
          <p:cNvPr id="28" name="Text 26"/>
          <p:cNvSpPr txBox="1"/>
          <p:nvPr/>
        </p:nvSpPr>
        <p:spPr>
          <a:xfrm>
            <a:off x="4663440" y="2651760"/>
            <a:ext cx="1097280" cy="1051560"/>
          </a:xfrm>
          <a:prstGeom prst="rect">
            <a:avLst/>
          </a:prstGeom>
          <a:noFill/>
          <a:ln/>
        </p:spPr>
        <p:txBody>
          <a:bodyPr wrap="square" lIns="0" tIns="0" rIns="0" bIns="0"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Available goes down, reserved goes up; low-stock alert if needed</a:t>
            </a:r>
            <a:endParaRPr lang="en-US" sz="1000" dirty="0"/>
          </a:p>
        </p:txBody>
      </p:sp>
      <p:sp>
        <p:nvSpPr>
          <p:cNvPr id="29" name="Text 27"/>
          <p:cNvSpPr txBox="1"/>
          <p:nvPr/>
        </p:nvSpPr>
        <p:spPr>
          <a:xfrm>
            <a:off x="4663440" y="3749040"/>
            <a:ext cx="1097280" cy="228600"/>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M5</a:t>
            </a:r>
            <a:endParaRPr lang="en-US" sz="900" dirty="0"/>
          </a:p>
        </p:txBody>
      </p:sp>
      <p:sp>
        <p:nvSpPr>
          <p:cNvPr id="30" name="Shape 28"/>
          <p:cNvSpPr/>
          <p:nvPr/>
        </p:nvSpPr>
        <p:spPr>
          <a:xfrm>
            <a:off x="5943600" y="1600200"/>
            <a:ext cx="1280160" cy="2468880"/>
          </a:xfrm>
          <a:prstGeom prst="roundRect">
            <a:avLst>
              <a:gd name="adj" fmla="val 571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31" name="Shape 29"/>
          <p:cNvSpPr/>
          <p:nvPr/>
        </p:nvSpPr>
        <p:spPr>
          <a:xfrm>
            <a:off x="6355080" y="1737360"/>
            <a:ext cx="457200" cy="457200"/>
          </a:xfrm>
          <a:prstGeom prst="ellipse">
            <a:avLst/>
          </a:prstGeom>
          <a:solidFill>
            <a:srgbClr val="2563EB"/>
          </a:solidFill>
          <a:ln w="12700">
            <a:solidFill>
              <a:srgbClr val="FFFFFF"/>
            </a:solidFill>
            <a:prstDash val="solid"/>
          </a:ln>
        </p:spPr>
      </p:sp>
      <p:sp>
        <p:nvSpPr>
          <p:cNvPr id="32" name="Text 30"/>
          <p:cNvSpPr txBox="1"/>
          <p:nvPr/>
        </p:nvSpPr>
        <p:spPr>
          <a:xfrm>
            <a:off x="63550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3" name="Text 31"/>
          <p:cNvSpPr txBox="1"/>
          <p:nvPr/>
        </p:nvSpPr>
        <p:spPr>
          <a:xfrm>
            <a:off x="6016752" y="2286000"/>
            <a:ext cx="1133856" cy="320040"/>
          </a:xfrm>
          <a:prstGeom prst="rect">
            <a:avLst/>
          </a:prstGeom>
          <a:noFill/>
          <a:ln/>
        </p:spPr>
        <p:txBody>
          <a:bodyPr wrap="square" lIns="0" tIns="0" rIns="0" bIns="0" rtlCol="0" anchor="ctr"/>
          <a:lstStyle/>
          <a:p>
            <a:pPr algn="ctr" indent="0" marL="0">
              <a:buNone/>
            </a:pPr>
            <a:r>
              <a:rPr lang="en-US" sz="1350" b="1" dirty="0">
                <a:solidFill>
                  <a:srgbClr val="0F172A"/>
                </a:solidFill>
                <a:latin typeface="Cambria" pitchFamily="34" charset="0"/>
                <a:ea typeface="Cambria" pitchFamily="34" charset="-122"/>
                <a:cs typeface="Cambria" pitchFamily="34" charset="-120"/>
              </a:rPr>
              <a:t>Fulfill</a:t>
            </a:r>
            <a:endParaRPr lang="en-US" sz="1350" dirty="0"/>
          </a:p>
        </p:txBody>
      </p:sp>
      <p:sp>
        <p:nvSpPr>
          <p:cNvPr id="34" name="Text 32"/>
          <p:cNvSpPr txBox="1"/>
          <p:nvPr/>
        </p:nvSpPr>
        <p:spPr>
          <a:xfrm>
            <a:off x="6035040" y="2651760"/>
            <a:ext cx="1097280" cy="1051560"/>
          </a:xfrm>
          <a:prstGeom prst="rect">
            <a:avLst/>
          </a:prstGeom>
          <a:noFill/>
          <a:ln/>
        </p:spPr>
        <p:txBody>
          <a:bodyPr wrap="square" lIns="0" tIns="0" rIns="0" bIns="0"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Pack, ship, deliver; reserved released, total reduced</a:t>
            </a:r>
            <a:endParaRPr lang="en-US" sz="1000" dirty="0"/>
          </a:p>
        </p:txBody>
      </p:sp>
      <p:sp>
        <p:nvSpPr>
          <p:cNvPr id="35" name="Text 33"/>
          <p:cNvSpPr txBox="1"/>
          <p:nvPr/>
        </p:nvSpPr>
        <p:spPr>
          <a:xfrm>
            <a:off x="6035040" y="3749040"/>
            <a:ext cx="1097280" cy="228600"/>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M6</a:t>
            </a:r>
            <a:endParaRPr lang="en-US" sz="900" dirty="0"/>
          </a:p>
        </p:txBody>
      </p:sp>
      <p:sp>
        <p:nvSpPr>
          <p:cNvPr id="36" name="Shape 34"/>
          <p:cNvSpPr/>
          <p:nvPr/>
        </p:nvSpPr>
        <p:spPr>
          <a:xfrm>
            <a:off x="7315200" y="1600200"/>
            <a:ext cx="1280160" cy="2468880"/>
          </a:xfrm>
          <a:prstGeom prst="roundRect">
            <a:avLst>
              <a:gd name="adj" fmla="val 5714"/>
            </a:avLst>
          </a:prstGeom>
          <a:solidFill>
            <a:srgbClr val="FFFFFF"/>
          </a:solidFill>
          <a:ln w="9525">
            <a:solidFill>
              <a:srgbClr val="CBD5E1"/>
            </a:solidFill>
            <a:prstDash val="solid"/>
          </a:ln>
          <a:effectLst>
            <a:outerShdw sx="100000" sy="100000" kx="0" ky="0" algn="bl" rotWithShape="0" blurRad="63500" dist="19050" dir="5400000">
              <a:srgbClr val="000000">
                <a:alpha val="10000"/>
              </a:srgbClr>
            </a:outerShdw>
          </a:effectLst>
        </p:spPr>
      </p:sp>
      <p:sp>
        <p:nvSpPr>
          <p:cNvPr id="37" name="Shape 35"/>
          <p:cNvSpPr/>
          <p:nvPr/>
        </p:nvSpPr>
        <p:spPr>
          <a:xfrm>
            <a:off x="7726680" y="1737360"/>
            <a:ext cx="457200" cy="457200"/>
          </a:xfrm>
          <a:prstGeom prst="ellipse">
            <a:avLst/>
          </a:prstGeom>
          <a:solidFill>
            <a:srgbClr val="059669"/>
          </a:solidFill>
          <a:ln w="12700">
            <a:solidFill>
              <a:srgbClr val="FFFFFF"/>
            </a:solidFill>
            <a:prstDash val="solid"/>
          </a:ln>
        </p:spPr>
      </p:sp>
      <p:sp>
        <p:nvSpPr>
          <p:cNvPr id="38" name="Text 36"/>
          <p:cNvSpPr txBox="1"/>
          <p:nvPr/>
        </p:nvSpPr>
        <p:spPr>
          <a:xfrm>
            <a:off x="77266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9" name="Text 37"/>
          <p:cNvSpPr txBox="1"/>
          <p:nvPr/>
        </p:nvSpPr>
        <p:spPr>
          <a:xfrm>
            <a:off x="7388352" y="2286000"/>
            <a:ext cx="1133856" cy="320040"/>
          </a:xfrm>
          <a:prstGeom prst="rect">
            <a:avLst/>
          </a:prstGeom>
          <a:noFill/>
          <a:ln/>
        </p:spPr>
        <p:txBody>
          <a:bodyPr wrap="square" lIns="0" tIns="0" rIns="0" bIns="0" rtlCol="0" anchor="ctr"/>
          <a:lstStyle/>
          <a:p>
            <a:pPr algn="ctr" indent="0" marL="0">
              <a:buNone/>
            </a:pPr>
            <a:r>
              <a:rPr lang="en-US" sz="1350" b="1" dirty="0">
                <a:solidFill>
                  <a:srgbClr val="0F172A"/>
                </a:solidFill>
                <a:latin typeface="Cambria" pitchFamily="34" charset="0"/>
                <a:ea typeface="Cambria" pitchFamily="34" charset="-122"/>
                <a:cs typeface="Cambria" pitchFamily="34" charset="-120"/>
              </a:rPr>
              <a:t>Report</a:t>
            </a:r>
            <a:endParaRPr lang="en-US" sz="1350" dirty="0"/>
          </a:p>
        </p:txBody>
      </p:sp>
      <p:sp>
        <p:nvSpPr>
          <p:cNvPr id="40" name="Text 38"/>
          <p:cNvSpPr txBox="1"/>
          <p:nvPr/>
        </p:nvSpPr>
        <p:spPr>
          <a:xfrm>
            <a:off x="7406640" y="2651760"/>
            <a:ext cx="1097280" cy="1051560"/>
          </a:xfrm>
          <a:prstGeom prst="rect">
            <a:avLst/>
          </a:prstGeom>
          <a:noFill/>
          <a:ln/>
        </p:spPr>
        <p:txBody>
          <a:bodyPr wrap="square" lIns="0" tIns="0" rIns="0" bIns="0" rtlCol="0" anchor="t"/>
          <a:lstStyle/>
          <a:p>
            <a:pPr algn="ctr" indent="0" marL="0">
              <a:buNone/>
            </a:pPr>
            <a:r>
              <a:rPr lang="en-US" sz="1000" dirty="0">
                <a:solidFill>
                  <a:srgbClr val="1E293B"/>
                </a:solidFill>
                <a:latin typeface="Calibri" pitchFamily="34" charset="0"/>
                <a:ea typeface="Calibri" pitchFamily="34" charset="-122"/>
                <a:cs typeface="Calibri" pitchFamily="34" charset="-120"/>
              </a:rPr>
              <a:t>Dashboard, CSV export, notifications</a:t>
            </a:r>
            <a:endParaRPr lang="en-US" sz="1000" dirty="0"/>
          </a:p>
        </p:txBody>
      </p:sp>
      <p:sp>
        <p:nvSpPr>
          <p:cNvPr id="41" name="Text 39"/>
          <p:cNvSpPr txBox="1"/>
          <p:nvPr/>
        </p:nvSpPr>
        <p:spPr>
          <a:xfrm>
            <a:off x="7406640" y="3749040"/>
            <a:ext cx="1097280" cy="228600"/>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M2, M11</a:t>
            </a:r>
            <a:endParaRPr lang="en-US" sz="900" dirty="0"/>
          </a:p>
        </p:txBody>
      </p:sp>
      <p:sp>
        <p:nvSpPr>
          <p:cNvPr id="42" name="Text 40"/>
          <p:cNvSpPr txBox="1"/>
          <p:nvPr/>
        </p:nvSpPr>
        <p:spPr>
          <a:xfrm>
            <a:off x="457200" y="4251960"/>
            <a:ext cx="8229600" cy="4114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Automatic stock reservation runs inside a database transaction, and available quantity is protected by a CHECK constraint, so stock can never go negative.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1554480"/>
            <a:ext cx="822960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457200" y="2560320"/>
            <a:ext cx="8229600" cy="457200"/>
          </a:xfrm>
          <a:prstGeom prst="rect">
            <a:avLst/>
          </a:prstGeom>
          <a:noFill/>
          <a:ln/>
        </p:spPr>
        <p:txBody>
          <a:bodyPr wrap="square" lIns="0" tIns="0" rIns="0" bIns="0" rtlCol="0" anchor="ctr"/>
          <a:lstStyle/>
          <a:p>
            <a:pPr algn="ctr" indent="0" marL="0">
              <a:buNone/>
            </a:pPr>
            <a:r>
              <a:rPr lang="en-US" sz="1800" dirty="0">
                <a:solidFill>
                  <a:srgbClr val="93C5FD"/>
                </a:solidFill>
                <a:latin typeface="Calibri" pitchFamily="34" charset="0"/>
                <a:ea typeface="Calibri" pitchFamily="34" charset="-122"/>
                <a:cs typeface="Calibri" pitchFamily="34" charset="-120"/>
              </a:rPr>
              <a:t>Retail Inventory Management System</a:t>
            </a:r>
            <a:endParaRPr lang="en-US" sz="1800" dirty="0"/>
          </a:p>
        </p:txBody>
      </p:sp>
      <p:sp>
        <p:nvSpPr>
          <p:cNvPr id="4" name="Text 2"/>
          <p:cNvSpPr txBox="1"/>
          <p:nvPr/>
        </p:nvSpPr>
        <p:spPr>
          <a:xfrm>
            <a:off x="457200" y="3200400"/>
            <a:ext cx="8229600" cy="36576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Tanmay Garg  |  ABES Engineering College, Ghaziabad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Inventory Management System</dc:title>
  <dc:subject>PptxGenJS Presentation</dc:subject>
  <dc:creator>PptxGenJS</dc:creator>
  <cp:lastModifiedBy>PptxGenJS</cp:lastModifiedBy>
  <cp:revision>1</cp:revision>
  <dcterms:created xsi:type="dcterms:W3CDTF">2026-10-01T06:31:37Z</dcterms:created>
  <dcterms:modified xsi:type="dcterms:W3CDTF">2026-10-01T06:31:37Z</dcterms:modified>
</cp:coreProperties>
</file>